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4F46E5"/>
          </a:solidFill>
          <a:ln w="12700">
            <a:solidFill>
              <a:srgbClr val="4F46E5"/>
            </a:solidFill>
            <a:prstDash val="solid"/>
          </a:ln>
        </p:spPr>
      </p:sp>
      <p:sp>
        <p:nvSpPr>
          <p:cNvPr id="3" name="Shape 1"/>
          <p:cNvSpPr/>
          <p:nvPr/>
        </p:nvSpPr>
        <p:spPr>
          <a:xfrm>
            <a:off x="3840480" y="457200"/>
            <a:ext cx="1463040" cy="1463040"/>
          </a:xfrm>
          <a:prstGeom prst="roundRect">
            <a:avLst>
              <a:gd name="adj" fmla="val 12500"/>
            </a:avLst>
          </a:prstGeom>
          <a:solidFill>
            <a:srgbClr val="4F46E5"/>
          </a:solidFill>
          <a:ln w="12700">
            <a:solidFill>
              <a:srgbClr val="4F46E5"/>
            </a:solidFill>
            <a:prstDash val="solid"/>
          </a:ln>
        </p:spPr>
      </p:sp>
      <p:sp>
        <p:nvSpPr>
          <p:cNvPr id="4" name="Text 2"/>
          <p:cNvSpPr/>
          <p:nvPr/>
        </p:nvSpPr>
        <p:spPr>
          <a:xfrm>
            <a:off x="3840480" y="502920"/>
            <a:ext cx="1463040" cy="1371600"/>
          </a:xfrm>
          <a:prstGeom prst="rect">
            <a:avLst/>
          </a:prstGeom>
          <a:noFill/>
          <a:ln/>
        </p:spPr>
        <p:txBody>
          <a:bodyPr wrap="square" rtlCol="0" anchor="ctr"/>
          <a:lstStyle/>
          <a:p>
            <a:pPr algn="ctr" indent="0" marL="0">
              <a:buNone/>
            </a:pPr>
            <a:r>
              <a:rPr lang="en-US" sz="4200" dirty="0">
                <a:solidFill>
                  <a:srgbClr val="000000"/>
                </a:solidFill>
              </a:rPr>
              <a:t>💹</a:t>
            </a:r>
            <a:endParaRPr lang="en-US" sz="4200" dirty="0"/>
          </a:p>
        </p:txBody>
      </p:sp>
      <p:sp>
        <p:nvSpPr>
          <p:cNvPr id="5" name="Text 3"/>
          <p:cNvSpPr/>
          <p:nvPr/>
        </p:nvSpPr>
        <p:spPr>
          <a:xfrm>
            <a:off x="914400" y="2011680"/>
            <a:ext cx="7315200" cy="77724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FinRisk</a:t>
            </a:r>
            <a:endParaRPr lang="en-US" sz="4400" dirty="0"/>
          </a:p>
        </p:txBody>
      </p:sp>
      <p:sp>
        <p:nvSpPr>
          <p:cNvPr id="6" name="Text 4"/>
          <p:cNvSpPr/>
          <p:nvPr/>
        </p:nvSpPr>
        <p:spPr>
          <a:xfrm>
            <a:off x="914400" y="2788920"/>
            <a:ext cx="7315200" cy="502920"/>
          </a:xfrm>
          <a:prstGeom prst="rect">
            <a:avLst/>
          </a:prstGeom>
          <a:noFill/>
          <a:ln/>
        </p:spPr>
        <p:txBody>
          <a:bodyPr wrap="square" rtlCol="0" anchor="ctr"/>
          <a:lstStyle/>
          <a:p>
            <a:pPr algn="ctr" indent="0" marL="0">
              <a:buNone/>
            </a:pPr>
            <a:r>
              <a:rPr lang="en-US" sz="2200" b="1" dirty="0">
                <a:solidFill>
                  <a:srgbClr val="38BDF8"/>
                </a:solidFill>
                <a:latin typeface="Arial" pitchFamily="34" charset="0"/>
                <a:ea typeface="Arial" pitchFamily="34" charset="-122"/>
                <a:cs typeface="Arial" pitchFamily="34" charset="-120"/>
              </a:rPr>
              <a:t>Financial Risk Analysis System</a:t>
            </a:r>
            <a:endParaRPr lang="en-US" sz="2200" dirty="0"/>
          </a:p>
        </p:txBody>
      </p:sp>
      <p:sp>
        <p:nvSpPr>
          <p:cNvPr id="7" name="Text 5"/>
          <p:cNvSpPr/>
          <p:nvPr/>
        </p:nvSpPr>
        <p:spPr>
          <a:xfrm>
            <a:off x="914400" y="3337560"/>
            <a:ext cx="7315200" cy="347472"/>
          </a:xfrm>
          <a:prstGeom prst="rect">
            <a:avLst/>
          </a:prstGeom>
          <a:noFill/>
          <a:ln/>
        </p:spPr>
        <p:txBody>
          <a:bodyPr wrap="square" rtlCol="0" anchor="ctr"/>
          <a:lstStyle/>
          <a:p>
            <a:pPr algn="ctr" indent="0" marL="0">
              <a:buNone/>
            </a:pPr>
            <a:r>
              <a:rPr lang="en-US" sz="1400" i="1" dirty="0">
                <a:solidFill>
                  <a:srgbClr val="94A3B8"/>
                </a:solidFill>
                <a:latin typeface="Arial" pitchFamily="34" charset="0"/>
                <a:ea typeface="Arial" pitchFamily="34" charset="-122"/>
                <a:cs typeface="Arial" pitchFamily="34" charset="-120"/>
              </a:rPr>
              <a:t>Domain: FinTech / Artificial Intelligence / Web Development</a:t>
            </a:r>
            <a:endParaRPr lang="en-US" sz="1400" dirty="0"/>
          </a:p>
        </p:txBody>
      </p:sp>
      <p:sp>
        <p:nvSpPr>
          <p:cNvPr id="8" name="Shape 6"/>
          <p:cNvSpPr/>
          <p:nvPr/>
        </p:nvSpPr>
        <p:spPr>
          <a:xfrm>
            <a:off x="2286000" y="3749040"/>
            <a:ext cx="4572000" cy="0"/>
          </a:xfrm>
          <a:prstGeom prst="line">
            <a:avLst/>
          </a:prstGeom>
          <a:noFill/>
          <a:ln w="19050">
            <a:solidFill>
              <a:srgbClr val="4F46E5"/>
            </a:solidFill>
            <a:prstDash val="solid"/>
          </a:ln>
        </p:spPr>
      </p:sp>
      <p:sp>
        <p:nvSpPr>
          <p:cNvPr id="9" name="Text 7"/>
          <p:cNvSpPr/>
          <p:nvPr/>
        </p:nvSpPr>
        <p:spPr>
          <a:xfrm>
            <a:off x="914400" y="3886200"/>
            <a:ext cx="7315200" cy="347472"/>
          </a:xfrm>
          <a:prstGeom prst="rect">
            <a:avLst/>
          </a:prstGeom>
          <a:noFill/>
          <a:ln/>
        </p:spPr>
        <p:txBody>
          <a:bodyPr wrap="square"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Developed by: Brahma Reddy</a:t>
            </a:r>
            <a:endParaRPr lang="en-US" sz="1500" dirty="0"/>
          </a:p>
        </p:txBody>
      </p:sp>
      <p:sp>
        <p:nvSpPr>
          <p:cNvPr id="10" name="Text 8"/>
          <p:cNvSpPr/>
          <p:nvPr/>
        </p:nvSpPr>
        <p:spPr>
          <a:xfrm>
            <a:off x="914400" y="4251960"/>
            <a:ext cx="7315200" cy="292608"/>
          </a:xfrm>
          <a:prstGeom prst="rect">
            <a:avLst/>
          </a:prstGeom>
          <a:noFill/>
          <a:ln/>
        </p:spPr>
        <p:txBody>
          <a:bodyPr wrap="square" rtlCol="0" anchor="ctr"/>
          <a:lstStyle/>
          <a:p>
            <a:pPr algn="ctr" indent="0" marL="0">
              <a:buNone/>
            </a:pPr>
            <a:r>
              <a:rPr lang="en-US" sz="1300" dirty="0">
                <a:solidFill>
                  <a:srgbClr val="94A3B8"/>
                </a:solidFill>
                <a:latin typeface="Arial" pitchFamily="34" charset="0"/>
                <a:ea typeface="Arial" pitchFamily="34" charset="-122"/>
                <a:cs typeface="Arial" pitchFamily="34" charset="-120"/>
              </a:rPr>
              <a:t>Self Project  |  July 2026</a:t>
            </a:r>
            <a:endParaRPr lang="en-US" sz="1300" dirty="0"/>
          </a:p>
        </p:txBody>
      </p:sp>
      <p:sp>
        <p:nvSpPr>
          <p:cNvPr id="11" name="Text 9"/>
          <p:cNvSpPr/>
          <p:nvPr/>
        </p:nvSpPr>
        <p:spPr>
          <a:xfrm>
            <a:off x="914400" y="4572000"/>
            <a:ext cx="7315200" cy="292608"/>
          </a:xfrm>
          <a:prstGeom prst="rect">
            <a:avLst/>
          </a:prstGeom>
          <a:noFill/>
          <a:ln/>
        </p:spPr>
        <p:txBody>
          <a:bodyPr wrap="square" rtlCol="0" anchor="ctr"/>
          <a:lstStyle/>
          <a:p>
            <a:pPr algn="ctr" indent="0" marL="0">
              <a:buNone/>
            </a:pPr>
            <a:r>
              <a:rPr lang="en-US" sz="1200" dirty="0">
                <a:solidFill>
                  <a:srgbClr val="22C55E"/>
                </a:solidFill>
                <a:latin typeface="Arial" pitchFamily="34" charset="0"/>
                <a:ea typeface="Arial" pitchFamily="34" charset="-122"/>
                <a:cs typeface="Arial" pitchFamily="34" charset="-120"/>
              </a:rPr>
              <a:t>Live: https://finrisk-app.vercel.app</a:t>
            </a:r>
            <a:endParaRPr lang="en-US" sz="1200" dirty="0"/>
          </a:p>
        </p:txBody>
      </p:sp>
      <p:sp>
        <p:nvSpPr>
          <p:cNvPr id="12" name="Shape 10"/>
          <p:cNvSpPr/>
          <p:nvPr/>
        </p:nvSpPr>
        <p:spPr>
          <a:xfrm>
            <a:off x="0" y="5056632"/>
            <a:ext cx="9144000" cy="91440"/>
          </a:xfrm>
          <a:prstGeom prst="rect">
            <a:avLst/>
          </a:prstGeom>
          <a:solidFill>
            <a:srgbClr val="4F46E5"/>
          </a:solidFill>
          <a:ln w="12700">
            <a:solidFill>
              <a:srgbClr val="4F46E5"/>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4F46E5"/>
          </a:solidFill>
          <a:ln w="12700">
            <a:solidFill>
              <a:srgbClr val="4F46E5"/>
            </a:solidFill>
            <a:prstDash val="solid"/>
          </a:ln>
        </p:spPr>
      </p:sp>
      <p:sp>
        <p:nvSpPr>
          <p:cNvPr id="3" name="Text 1"/>
          <p:cNvSpPr/>
          <p:nvPr/>
        </p:nvSpPr>
        <p:spPr>
          <a:xfrm>
            <a:off x="457200" y="182880"/>
            <a:ext cx="8229600" cy="594360"/>
          </a:xfrm>
          <a:prstGeom prst="rect">
            <a:avLst/>
          </a:prstGeom>
          <a:noFill/>
          <a:ln/>
        </p:spPr>
        <p:txBody>
          <a:bodyPr wrap="square" rtlCol="0" anchor="ctr"/>
          <a:lstStyle/>
          <a:p>
            <a:pPr indent="0" marL="0">
              <a:buNone/>
            </a:pPr>
            <a:r>
              <a:rPr lang="en-US" sz="3200" b="1" dirty="0">
                <a:solidFill>
                  <a:srgbClr val="FFFFFF"/>
                </a:solidFill>
                <a:latin typeface="Arial" pitchFamily="34" charset="0"/>
                <a:ea typeface="Arial" pitchFamily="34" charset="-122"/>
                <a:cs typeface="Arial" pitchFamily="34" charset="-120"/>
              </a:rPr>
              <a:t>Abstract</a:t>
            </a:r>
            <a:endParaRPr lang="en-US" sz="3200" dirty="0"/>
          </a:p>
        </p:txBody>
      </p:sp>
      <p:sp>
        <p:nvSpPr>
          <p:cNvPr id="4" name="Shape 2"/>
          <p:cNvSpPr/>
          <p:nvPr/>
        </p:nvSpPr>
        <p:spPr>
          <a:xfrm>
            <a:off x="0" y="5056632"/>
            <a:ext cx="9144000" cy="91440"/>
          </a:xfrm>
          <a:prstGeom prst="rect">
            <a:avLst/>
          </a:prstGeom>
          <a:solidFill>
            <a:srgbClr val="4F46E5"/>
          </a:solidFill>
          <a:ln w="12700">
            <a:solidFill>
              <a:srgbClr val="4F46E5"/>
            </a:solidFill>
            <a:prstDash val="solid"/>
          </a:ln>
        </p:spPr>
      </p:sp>
      <p:sp>
        <p:nvSpPr>
          <p:cNvPr id="5" name="Text 3"/>
          <p:cNvSpPr/>
          <p:nvPr/>
        </p:nvSpPr>
        <p:spPr>
          <a:xfrm>
            <a:off x="457200" y="868680"/>
            <a:ext cx="8229600" cy="4069080"/>
          </a:xfrm>
          <a:prstGeom prst="rect">
            <a:avLst/>
          </a:prstGeom>
          <a:noFill/>
          <a:ln/>
        </p:spPr>
        <p:txBody>
          <a:bodyPr wrap="square" rtlCol="0" anchor="t"/>
          <a:lstStyle/>
          <a:p>
            <a:pPr algn="just" indent="0" marL="0">
              <a:buNone/>
            </a:pPr>
            <a:r>
              <a:rPr lang="en-US" sz="1350" dirty="0">
                <a:solidFill>
                  <a:srgbClr val="E2E8F0"/>
                </a:solidFill>
                <a:latin typeface="Arial" pitchFamily="34" charset="0"/>
                <a:ea typeface="Arial" pitchFamily="34" charset="-122"/>
                <a:cs typeface="Arial" pitchFamily="34" charset="-120"/>
              </a:rPr>
              <a:t>In today's financial landscape, individuals and banking institutions face significant challenges in accurately assessing creditworthiness, managing personal finances, and making informed loan decisions. Manual loan evaluation is slow, inconsistent, and error-prone, while most people lack tools to understand how spending habits, savings patterns, and credit behavior collectively impact their financial health. To address this, the Financial Risk Analysis System is proposed as a comprehensive AI-powered web application that enables users to predict loan approval risk, assess land-backed loan eligibility, track monthly expenditure, plan savings and investments, and simulate credit score improvement through a single unified platform. The system evaluates a customer's complete financial profile to classify applicants as Low Risk, Medium Risk, or High Risk using a Random Forest Classifier trained on 5,000 real-world records with 96.71% accuracy. By integrating authentication, loan risk prediction, land collateral assessment, expenditure tracking, investment planning, net worth calculation, and credit score simulation into one cohesive platform, this system empowers individuals and financial institutions with faster, more accurate, and holistic financial decision-making.</a:t>
            </a:r>
            <a:endParaRPr lang="en-US" sz="13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4F46E5"/>
          </a:solidFill>
          <a:ln w="12700">
            <a:solidFill>
              <a:srgbClr val="4F46E5"/>
            </a:solidFill>
            <a:prstDash val="solid"/>
          </a:ln>
        </p:spPr>
      </p:sp>
      <p:sp>
        <p:nvSpPr>
          <p:cNvPr id="3" name="Text 1"/>
          <p:cNvSpPr/>
          <p:nvPr/>
        </p:nvSpPr>
        <p:spPr>
          <a:xfrm>
            <a:off x="457200" y="182880"/>
            <a:ext cx="8229600" cy="594360"/>
          </a:xfrm>
          <a:prstGeom prst="rect">
            <a:avLst/>
          </a:prstGeom>
          <a:noFill/>
          <a:ln/>
        </p:spPr>
        <p:txBody>
          <a:bodyPr wrap="square" rtlCol="0" anchor="ctr"/>
          <a:lstStyle/>
          <a:p>
            <a:pPr indent="0" marL="0">
              <a:buNone/>
            </a:pPr>
            <a:r>
              <a:rPr lang="en-US" sz="3200" b="1" dirty="0">
                <a:solidFill>
                  <a:srgbClr val="FFFFFF"/>
                </a:solidFill>
                <a:latin typeface="Arial" pitchFamily="34" charset="0"/>
                <a:ea typeface="Arial" pitchFamily="34" charset="-122"/>
                <a:cs typeface="Arial" pitchFamily="34" charset="-120"/>
              </a:rPr>
              <a:t>Introduction</a:t>
            </a:r>
            <a:endParaRPr lang="en-US" sz="3200" dirty="0"/>
          </a:p>
        </p:txBody>
      </p:sp>
      <p:sp>
        <p:nvSpPr>
          <p:cNvPr id="4" name="Shape 2"/>
          <p:cNvSpPr/>
          <p:nvPr/>
        </p:nvSpPr>
        <p:spPr>
          <a:xfrm>
            <a:off x="0" y="5056632"/>
            <a:ext cx="9144000" cy="91440"/>
          </a:xfrm>
          <a:prstGeom prst="rect">
            <a:avLst/>
          </a:prstGeom>
          <a:solidFill>
            <a:srgbClr val="4F46E5"/>
          </a:solidFill>
          <a:ln w="12700">
            <a:solidFill>
              <a:srgbClr val="4F46E5"/>
            </a:solidFill>
            <a:prstDash val="solid"/>
          </a:ln>
        </p:spPr>
      </p:sp>
      <p:sp>
        <p:nvSpPr>
          <p:cNvPr id="5" name="Shape 3"/>
          <p:cNvSpPr/>
          <p:nvPr/>
        </p:nvSpPr>
        <p:spPr>
          <a:xfrm>
            <a:off x="457200" y="960120"/>
            <a:ext cx="256032" cy="256032"/>
          </a:xfrm>
          <a:prstGeom prst="ellipse">
            <a:avLst/>
          </a:prstGeom>
          <a:solidFill>
            <a:srgbClr val="4F46E5"/>
          </a:solidFill>
          <a:ln w="12700">
            <a:solidFill>
              <a:srgbClr val="4F46E5"/>
            </a:solidFill>
            <a:prstDash val="solid"/>
          </a:ln>
        </p:spPr>
      </p:sp>
      <p:sp>
        <p:nvSpPr>
          <p:cNvPr id="6" name="Text 4"/>
          <p:cNvSpPr/>
          <p:nvPr/>
        </p:nvSpPr>
        <p:spPr>
          <a:xfrm>
            <a:off x="457200" y="960120"/>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rPr>
              <a:t>1</a:t>
            </a:r>
            <a:endParaRPr lang="en-US" sz="1100" dirty="0"/>
          </a:p>
        </p:txBody>
      </p:sp>
      <p:sp>
        <p:nvSpPr>
          <p:cNvPr id="7" name="Text 5"/>
          <p:cNvSpPr/>
          <p:nvPr/>
        </p:nvSpPr>
        <p:spPr>
          <a:xfrm>
            <a:off x="822960" y="932688"/>
            <a:ext cx="7955280" cy="731520"/>
          </a:xfrm>
          <a:prstGeom prst="rect">
            <a:avLst/>
          </a:prstGeom>
          <a:noFill/>
          <a:ln/>
        </p:spPr>
        <p:txBody>
          <a:bodyPr wrap="square" rtlCol="0" anchor="ctr"/>
          <a:lstStyle/>
          <a:p>
            <a:pPr indent="0" marL="0">
              <a:buNone/>
            </a:pPr>
            <a:r>
              <a:rPr lang="en-US" sz="1300" dirty="0">
                <a:solidFill>
                  <a:srgbClr val="E2E8F0"/>
                </a:solidFill>
                <a:latin typeface="Arial" pitchFamily="34" charset="0"/>
                <a:ea typeface="Arial" pitchFamily="34" charset="-122"/>
                <a:cs typeface="Arial" pitchFamily="34" charset="-120"/>
              </a:rPr>
              <a:t>Banks and financial institutions process thousands of loan applications manually — a process that is slow, inconsistent, and highly prone to human error.</a:t>
            </a:r>
            <a:endParaRPr lang="en-US" sz="1300" dirty="0"/>
          </a:p>
        </p:txBody>
      </p:sp>
      <p:sp>
        <p:nvSpPr>
          <p:cNvPr id="8" name="Shape 6"/>
          <p:cNvSpPr/>
          <p:nvPr/>
        </p:nvSpPr>
        <p:spPr>
          <a:xfrm>
            <a:off x="457200" y="1764792"/>
            <a:ext cx="256032" cy="256032"/>
          </a:xfrm>
          <a:prstGeom prst="ellipse">
            <a:avLst/>
          </a:prstGeom>
          <a:solidFill>
            <a:srgbClr val="4F46E5"/>
          </a:solidFill>
          <a:ln w="12700">
            <a:solidFill>
              <a:srgbClr val="4F46E5"/>
            </a:solidFill>
            <a:prstDash val="solid"/>
          </a:ln>
        </p:spPr>
      </p:sp>
      <p:sp>
        <p:nvSpPr>
          <p:cNvPr id="9" name="Text 7"/>
          <p:cNvSpPr/>
          <p:nvPr/>
        </p:nvSpPr>
        <p:spPr>
          <a:xfrm>
            <a:off x="457200" y="1764792"/>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rPr>
              <a:t>2</a:t>
            </a:r>
            <a:endParaRPr lang="en-US" sz="1100" dirty="0"/>
          </a:p>
        </p:txBody>
      </p:sp>
      <p:sp>
        <p:nvSpPr>
          <p:cNvPr id="10" name="Text 8"/>
          <p:cNvSpPr/>
          <p:nvPr/>
        </p:nvSpPr>
        <p:spPr>
          <a:xfrm>
            <a:off x="822960" y="1737360"/>
            <a:ext cx="7955280" cy="731520"/>
          </a:xfrm>
          <a:prstGeom prst="rect">
            <a:avLst/>
          </a:prstGeom>
          <a:noFill/>
          <a:ln/>
        </p:spPr>
        <p:txBody>
          <a:bodyPr wrap="square" rtlCol="0" anchor="ctr"/>
          <a:lstStyle/>
          <a:p>
            <a:pPr indent="0" marL="0">
              <a:buNone/>
            </a:pPr>
            <a:r>
              <a:rPr lang="en-US" sz="1300" dirty="0">
                <a:solidFill>
                  <a:srgbClr val="E2E8F0"/>
                </a:solidFill>
                <a:latin typeface="Arial" pitchFamily="34" charset="0"/>
                <a:ea typeface="Arial" pitchFamily="34" charset="-122"/>
                <a:cs typeface="Arial" pitchFamily="34" charset="-120"/>
              </a:rPr>
              <a:t>Most individuals lack a unified platform that connects their loan eligibility, spending behavior, investment planning, and credit health together for informed decision-making.</a:t>
            </a:r>
            <a:endParaRPr lang="en-US" sz="1300" dirty="0"/>
          </a:p>
        </p:txBody>
      </p:sp>
      <p:sp>
        <p:nvSpPr>
          <p:cNvPr id="11" name="Shape 9"/>
          <p:cNvSpPr/>
          <p:nvPr/>
        </p:nvSpPr>
        <p:spPr>
          <a:xfrm>
            <a:off x="457200" y="2569464"/>
            <a:ext cx="256032" cy="256032"/>
          </a:xfrm>
          <a:prstGeom prst="ellipse">
            <a:avLst/>
          </a:prstGeom>
          <a:solidFill>
            <a:srgbClr val="4F46E5"/>
          </a:solidFill>
          <a:ln w="12700">
            <a:solidFill>
              <a:srgbClr val="4F46E5"/>
            </a:solidFill>
            <a:prstDash val="solid"/>
          </a:ln>
        </p:spPr>
      </p:sp>
      <p:sp>
        <p:nvSpPr>
          <p:cNvPr id="12" name="Text 10"/>
          <p:cNvSpPr/>
          <p:nvPr/>
        </p:nvSpPr>
        <p:spPr>
          <a:xfrm>
            <a:off x="457200" y="2569464"/>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rPr>
              <a:t>3</a:t>
            </a:r>
            <a:endParaRPr lang="en-US" sz="1100" dirty="0"/>
          </a:p>
        </p:txBody>
      </p:sp>
      <p:sp>
        <p:nvSpPr>
          <p:cNvPr id="13" name="Text 11"/>
          <p:cNvSpPr/>
          <p:nvPr/>
        </p:nvSpPr>
        <p:spPr>
          <a:xfrm>
            <a:off x="822960" y="2542032"/>
            <a:ext cx="7955280" cy="731520"/>
          </a:xfrm>
          <a:prstGeom prst="rect">
            <a:avLst/>
          </a:prstGeom>
          <a:noFill/>
          <a:ln/>
        </p:spPr>
        <p:txBody>
          <a:bodyPr wrap="square" rtlCol="0" anchor="ctr"/>
          <a:lstStyle/>
          <a:p>
            <a:pPr indent="0" marL="0">
              <a:buNone/>
            </a:pPr>
            <a:r>
              <a:rPr lang="en-US" sz="1300" dirty="0">
                <a:solidFill>
                  <a:srgbClr val="E2E8F0"/>
                </a:solidFill>
                <a:latin typeface="Arial" pitchFamily="34" charset="0"/>
                <a:ea typeface="Arial" pitchFamily="34" charset="-122"/>
                <a:cs typeface="Arial" pitchFamily="34" charset="-120"/>
              </a:rPr>
              <a:t>Existing tools address financial needs in isolation — a loan calculator here, a budget tracker there — with no integration between modules.</a:t>
            </a:r>
            <a:endParaRPr lang="en-US" sz="1300" dirty="0"/>
          </a:p>
        </p:txBody>
      </p:sp>
      <p:sp>
        <p:nvSpPr>
          <p:cNvPr id="14" name="Shape 12"/>
          <p:cNvSpPr/>
          <p:nvPr/>
        </p:nvSpPr>
        <p:spPr>
          <a:xfrm>
            <a:off x="457200" y="3374136"/>
            <a:ext cx="256032" cy="256032"/>
          </a:xfrm>
          <a:prstGeom prst="ellipse">
            <a:avLst/>
          </a:prstGeom>
          <a:solidFill>
            <a:srgbClr val="4F46E5"/>
          </a:solidFill>
          <a:ln w="12700">
            <a:solidFill>
              <a:srgbClr val="4F46E5"/>
            </a:solidFill>
            <a:prstDash val="solid"/>
          </a:ln>
        </p:spPr>
      </p:sp>
      <p:sp>
        <p:nvSpPr>
          <p:cNvPr id="15" name="Text 13"/>
          <p:cNvSpPr/>
          <p:nvPr/>
        </p:nvSpPr>
        <p:spPr>
          <a:xfrm>
            <a:off x="457200" y="3374136"/>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rPr>
              <a:t>4</a:t>
            </a:r>
            <a:endParaRPr lang="en-US" sz="1100" dirty="0"/>
          </a:p>
        </p:txBody>
      </p:sp>
      <p:sp>
        <p:nvSpPr>
          <p:cNvPr id="16" name="Text 14"/>
          <p:cNvSpPr/>
          <p:nvPr/>
        </p:nvSpPr>
        <p:spPr>
          <a:xfrm>
            <a:off x="822960" y="3346704"/>
            <a:ext cx="7955280" cy="731520"/>
          </a:xfrm>
          <a:prstGeom prst="rect">
            <a:avLst/>
          </a:prstGeom>
          <a:noFill/>
          <a:ln/>
        </p:spPr>
        <p:txBody>
          <a:bodyPr wrap="square" rtlCol="0" anchor="ctr"/>
          <a:lstStyle/>
          <a:p>
            <a:pPr indent="0" marL="0">
              <a:buNone/>
            </a:pPr>
            <a:r>
              <a:rPr lang="en-US" sz="1300" dirty="0">
                <a:solidFill>
                  <a:srgbClr val="E2E8F0"/>
                </a:solidFill>
                <a:latin typeface="Arial" pitchFamily="34" charset="0"/>
                <a:ea typeface="Arial" pitchFamily="34" charset="-122"/>
                <a:cs typeface="Arial" pitchFamily="34" charset="-120"/>
              </a:rPr>
              <a:t>This project proposes the Financial Risk Analysis System — an AI-powered full-stack web application that integrates loan risk prediction, land collateral assessment, expense tracking, investment planning, credit score simulation, and net worth calculation into one unified platform.</a:t>
            </a:r>
            <a:endParaRPr lang="en-US" sz="1300" dirty="0"/>
          </a:p>
        </p:txBody>
      </p:sp>
      <p:sp>
        <p:nvSpPr>
          <p:cNvPr id="17" name="Shape 15"/>
          <p:cNvSpPr/>
          <p:nvPr/>
        </p:nvSpPr>
        <p:spPr>
          <a:xfrm>
            <a:off x="457200" y="4178808"/>
            <a:ext cx="256032" cy="256032"/>
          </a:xfrm>
          <a:prstGeom prst="ellipse">
            <a:avLst/>
          </a:prstGeom>
          <a:solidFill>
            <a:srgbClr val="4F46E5"/>
          </a:solidFill>
          <a:ln w="12700">
            <a:solidFill>
              <a:srgbClr val="4F46E5"/>
            </a:solidFill>
            <a:prstDash val="solid"/>
          </a:ln>
        </p:spPr>
      </p:sp>
      <p:sp>
        <p:nvSpPr>
          <p:cNvPr id="18" name="Text 16"/>
          <p:cNvSpPr/>
          <p:nvPr/>
        </p:nvSpPr>
        <p:spPr>
          <a:xfrm>
            <a:off x="457200" y="4178808"/>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rPr>
              <a:t>5</a:t>
            </a:r>
            <a:endParaRPr lang="en-US" sz="1100" dirty="0"/>
          </a:p>
        </p:txBody>
      </p:sp>
      <p:sp>
        <p:nvSpPr>
          <p:cNvPr id="19" name="Text 17"/>
          <p:cNvSpPr/>
          <p:nvPr/>
        </p:nvSpPr>
        <p:spPr>
          <a:xfrm>
            <a:off x="822960" y="4151376"/>
            <a:ext cx="7955280" cy="731520"/>
          </a:xfrm>
          <a:prstGeom prst="rect">
            <a:avLst/>
          </a:prstGeom>
          <a:noFill/>
          <a:ln/>
        </p:spPr>
        <p:txBody>
          <a:bodyPr wrap="square" rtlCol="0" anchor="ctr"/>
          <a:lstStyle/>
          <a:p>
            <a:pPr indent="0" marL="0">
              <a:buNone/>
            </a:pPr>
            <a:r>
              <a:rPr lang="en-US" sz="1300" dirty="0">
                <a:solidFill>
                  <a:srgbClr val="E2E8F0"/>
                </a:solidFill>
                <a:latin typeface="Arial" pitchFamily="34" charset="0"/>
                <a:ea typeface="Arial" pitchFamily="34" charset="-122"/>
                <a:cs typeface="Arial" pitchFamily="34" charset="-120"/>
              </a:rPr>
              <a:t>Customers register and log in to access a personalized financial dashboard where all modules are interconnected, providing holistic financial insights based on their actual data.</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4F46E5"/>
          </a:solidFill>
          <a:ln w="12700">
            <a:solidFill>
              <a:srgbClr val="4F46E5"/>
            </a:solidFill>
            <a:prstDash val="solid"/>
          </a:ln>
        </p:spPr>
      </p:sp>
      <p:sp>
        <p:nvSpPr>
          <p:cNvPr id="3" name="Text 1"/>
          <p:cNvSpPr/>
          <p:nvPr/>
        </p:nvSpPr>
        <p:spPr>
          <a:xfrm>
            <a:off x="457200" y="182880"/>
            <a:ext cx="8229600" cy="594360"/>
          </a:xfrm>
          <a:prstGeom prst="rect">
            <a:avLst/>
          </a:prstGeom>
          <a:noFill/>
          <a:ln/>
        </p:spPr>
        <p:txBody>
          <a:bodyPr wrap="square" rtlCol="0" anchor="ctr"/>
          <a:lstStyle/>
          <a:p>
            <a:pPr indent="0" marL="0">
              <a:buNone/>
            </a:pPr>
            <a:r>
              <a:rPr lang="en-US" sz="3200" b="1" dirty="0">
                <a:solidFill>
                  <a:srgbClr val="FFFFFF"/>
                </a:solidFill>
                <a:latin typeface="Arial" pitchFamily="34" charset="0"/>
                <a:ea typeface="Arial" pitchFamily="34" charset="-122"/>
                <a:cs typeface="Arial" pitchFamily="34" charset="-120"/>
              </a:rPr>
              <a:t>Objective</a:t>
            </a:r>
            <a:endParaRPr lang="en-US" sz="3200" dirty="0"/>
          </a:p>
        </p:txBody>
      </p:sp>
      <p:sp>
        <p:nvSpPr>
          <p:cNvPr id="4" name="Shape 2"/>
          <p:cNvSpPr/>
          <p:nvPr/>
        </p:nvSpPr>
        <p:spPr>
          <a:xfrm>
            <a:off x="0" y="5056632"/>
            <a:ext cx="9144000" cy="91440"/>
          </a:xfrm>
          <a:prstGeom prst="rect">
            <a:avLst/>
          </a:prstGeom>
          <a:solidFill>
            <a:srgbClr val="4F46E5"/>
          </a:solidFill>
          <a:ln w="12700">
            <a:solidFill>
              <a:srgbClr val="4F46E5"/>
            </a:solidFill>
            <a:prstDash val="solid"/>
          </a:ln>
        </p:spPr>
      </p:sp>
      <p:sp>
        <p:nvSpPr>
          <p:cNvPr id="5" name="Shape 3"/>
          <p:cNvSpPr/>
          <p:nvPr/>
        </p:nvSpPr>
        <p:spPr>
          <a:xfrm>
            <a:off x="228600" y="914400"/>
            <a:ext cx="2697480" cy="1920240"/>
          </a:xfrm>
          <a:prstGeom prst="roundRect">
            <a:avLst>
              <a:gd name="adj" fmla="val 5714"/>
            </a:avLst>
          </a:prstGeom>
          <a:solidFill>
            <a:srgbClr val="1E293B"/>
          </a:solidFill>
          <a:ln w="12700">
            <a:solidFill>
              <a:srgbClr val="4F46E5"/>
            </a:solidFill>
            <a:prstDash val="solid"/>
          </a:ln>
        </p:spPr>
      </p:sp>
      <p:sp>
        <p:nvSpPr>
          <p:cNvPr id="6" name="Text 4"/>
          <p:cNvSpPr/>
          <p:nvPr/>
        </p:nvSpPr>
        <p:spPr>
          <a:xfrm>
            <a:off x="228600" y="1005840"/>
            <a:ext cx="2697480" cy="502920"/>
          </a:xfrm>
          <a:prstGeom prst="rect">
            <a:avLst/>
          </a:prstGeom>
          <a:noFill/>
          <a:ln/>
        </p:spPr>
        <p:txBody>
          <a:bodyPr wrap="square" rtlCol="0" anchor="ctr"/>
          <a:lstStyle/>
          <a:p>
            <a:pPr algn="ctr" indent="0" marL="0">
              <a:buNone/>
            </a:pPr>
            <a:r>
              <a:rPr lang="en-US" sz="2400" dirty="0">
                <a:solidFill>
                  <a:srgbClr val="000000"/>
                </a:solidFill>
              </a:rPr>
              <a:t>🤖</a:t>
            </a:r>
            <a:endParaRPr lang="en-US" sz="2400" dirty="0"/>
          </a:p>
        </p:txBody>
      </p:sp>
      <p:sp>
        <p:nvSpPr>
          <p:cNvPr id="7" name="Text 5"/>
          <p:cNvSpPr/>
          <p:nvPr/>
        </p:nvSpPr>
        <p:spPr>
          <a:xfrm>
            <a:off x="320040" y="1508760"/>
            <a:ext cx="2514600" cy="365760"/>
          </a:xfrm>
          <a:prstGeom prst="rect">
            <a:avLst/>
          </a:prstGeom>
          <a:noFill/>
          <a:ln/>
        </p:spPr>
        <p:txBody>
          <a:bodyPr wrap="square" rtlCol="0" anchor="ctr"/>
          <a:lstStyle/>
          <a:p>
            <a:pPr algn="ctr" indent="0" marL="0">
              <a:buNone/>
            </a:pPr>
            <a:r>
              <a:rPr lang="en-US" sz="1200" b="1" dirty="0">
                <a:solidFill>
                  <a:srgbClr val="38BDF8"/>
                </a:solidFill>
                <a:latin typeface="Arial" pitchFamily="34" charset="0"/>
                <a:ea typeface="Arial" pitchFamily="34" charset="-122"/>
                <a:cs typeface="Arial" pitchFamily="34" charset="-120"/>
              </a:rPr>
              <a:t>AI Loan Risk Prediction</a:t>
            </a:r>
            <a:endParaRPr lang="en-US" sz="1200" dirty="0"/>
          </a:p>
        </p:txBody>
      </p:sp>
      <p:sp>
        <p:nvSpPr>
          <p:cNvPr id="8" name="Text 6"/>
          <p:cNvSpPr/>
          <p:nvPr/>
        </p:nvSpPr>
        <p:spPr>
          <a:xfrm>
            <a:off x="320040" y="1874520"/>
            <a:ext cx="2514600" cy="914400"/>
          </a:xfrm>
          <a:prstGeom prst="rect">
            <a:avLst/>
          </a:prstGeom>
          <a:noFill/>
          <a:ln/>
        </p:spPr>
        <p:txBody>
          <a:bodyPr wrap="square" rtlCol="0" anchor="t"/>
          <a:lstStyle/>
          <a:p>
            <a:pPr algn="ctr" indent="0" marL="0">
              <a:buNone/>
            </a:pPr>
            <a:r>
              <a:rPr lang="en-US" sz="1050" dirty="0">
                <a:solidFill>
                  <a:srgbClr val="E2E8F0"/>
                </a:solidFill>
                <a:latin typeface="Arial" pitchFamily="34" charset="0"/>
                <a:ea typeface="Arial" pitchFamily="34" charset="-122"/>
                <a:cs typeface="Arial" pitchFamily="34" charset="-120"/>
              </a:rPr>
              <a:t>Build a Random Forest ML model with 96.71% accuracy to classify applicants as Low, Medium, or High Risk with probability scores.</a:t>
            </a:r>
            <a:endParaRPr lang="en-US" sz="1050" dirty="0"/>
          </a:p>
        </p:txBody>
      </p:sp>
      <p:sp>
        <p:nvSpPr>
          <p:cNvPr id="9" name="Shape 7"/>
          <p:cNvSpPr/>
          <p:nvPr/>
        </p:nvSpPr>
        <p:spPr>
          <a:xfrm>
            <a:off x="3200400" y="914400"/>
            <a:ext cx="2697480" cy="1920240"/>
          </a:xfrm>
          <a:prstGeom prst="roundRect">
            <a:avLst>
              <a:gd name="adj" fmla="val 5714"/>
            </a:avLst>
          </a:prstGeom>
          <a:solidFill>
            <a:srgbClr val="1E293B"/>
          </a:solidFill>
          <a:ln w="12700">
            <a:solidFill>
              <a:srgbClr val="4F46E5"/>
            </a:solidFill>
            <a:prstDash val="solid"/>
          </a:ln>
        </p:spPr>
      </p:sp>
      <p:sp>
        <p:nvSpPr>
          <p:cNvPr id="10" name="Text 8"/>
          <p:cNvSpPr/>
          <p:nvPr/>
        </p:nvSpPr>
        <p:spPr>
          <a:xfrm>
            <a:off x="3200400" y="1005840"/>
            <a:ext cx="2697480" cy="502920"/>
          </a:xfrm>
          <a:prstGeom prst="rect">
            <a:avLst/>
          </a:prstGeom>
          <a:noFill/>
          <a:ln/>
        </p:spPr>
        <p:txBody>
          <a:bodyPr wrap="square" rtlCol="0" anchor="ctr"/>
          <a:lstStyle/>
          <a:p>
            <a:pPr algn="ctr" indent="0" marL="0">
              <a:buNone/>
            </a:pPr>
            <a:r>
              <a:rPr lang="en-US" sz="2400" dirty="0">
                <a:solidFill>
                  <a:srgbClr val="000000"/>
                </a:solidFill>
              </a:rPr>
              <a:t>🔐</a:t>
            </a:r>
            <a:endParaRPr lang="en-US" sz="2400" dirty="0"/>
          </a:p>
        </p:txBody>
      </p:sp>
      <p:sp>
        <p:nvSpPr>
          <p:cNvPr id="11" name="Text 9"/>
          <p:cNvSpPr/>
          <p:nvPr/>
        </p:nvSpPr>
        <p:spPr>
          <a:xfrm>
            <a:off x="3291840" y="1508760"/>
            <a:ext cx="2514600" cy="365760"/>
          </a:xfrm>
          <a:prstGeom prst="rect">
            <a:avLst/>
          </a:prstGeom>
          <a:noFill/>
          <a:ln/>
        </p:spPr>
        <p:txBody>
          <a:bodyPr wrap="square" rtlCol="0" anchor="ctr"/>
          <a:lstStyle/>
          <a:p>
            <a:pPr algn="ctr" indent="0" marL="0">
              <a:buNone/>
            </a:pPr>
            <a:r>
              <a:rPr lang="en-US" sz="1200" b="1" dirty="0">
                <a:solidFill>
                  <a:srgbClr val="38BDF8"/>
                </a:solidFill>
                <a:latin typeface="Arial" pitchFamily="34" charset="0"/>
                <a:ea typeface="Arial" pitchFamily="34" charset="-122"/>
                <a:cs typeface="Arial" pitchFamily="34" charset="-120"/>
              </a:rPr>
              <a:t>Secure Authentication</a:t>
            </a:r>
            <a:endParaRPr lang="en-US" sz="1200" dirty="0"/>
          </a:p>
        </p:txBody>
      </p:sp>
      <p:sp>
        <p:nvSpPr>
          <p:cNvPr id="12" name="Text 10"/>
          <p:cNvSpPr/>
          <p:nvPr/>
        </p:nvSpPr>
        <p:spPr>
          <a:xfrm>
            <a:off x="3291840" y="1874520"/>
            <a:ext cx="2514600" cy="914400"/>
          </a:xfrm>
          <a:prstGeom prst="rect">
            <a:avLst/>
          </a:prstGeom>
          <a:noFill/>
          <a:ln/>
        </p:spPr>
        <p:txBody>
          <a:bodyPr wrap="square" rtlCol="0" anchor="t"/>
          <a:lstStyle/>
          <a:p>
            <a:pPr algn="ctr" indent="0" marL="0">
              <a:buNone/>
            </a:pPr>
            <a:r>
              <a:rPr lang="en-US" sz="1050" dirty="0">
                <a:solidFill>
                  <a:srgbClr val="E2E8F0"/>
                </a:solidFill>
                <a:latin typeface="Arial" pitchFamily="34" charset="0"/>
                <a:ea typeface="Arial" pitchFamily="34" charset="-122"/>
                <a:cs typeface="Arial" pitchFamily="34" charset="-120"/>
              </a:rPr>
              <a:t>Implement user registration and login with SHA-256 hashing and token-based sessions so all data is personalized per customer.</a:t>
            </a:r>
            <a:endParaRPr lang="en-US" sz="1050" dirty="0"/>
          </a:p>
        </p:txBody>
      </p:sp>
      <p:sp>
        <p:nvSpPr>
          <p:cNvPr id="13" name="Shape 11"/>
          <p:cNvSpPr/>
          <p:nvPr/>
        </p:nvSpPr>
        <p:spPr>
          <a:xfrm>
            <a:off x="6172200" y="914400"/>
            <a:ext cx="2697480" cy="1920240"/>
          </a:xfrm>
          <a:prstGeom prst="roundRect">
            <a:avLst>
              <a:gd name="adj" fmla="val 5714"/>
            </a:avLst>
          </a:prstGeom>
          <a:solidFill>
            <a:srgbClr val="1E293B"/>
          </a:solidFill>
          <a:ln w="12700">
            <a:solidFill>
              <a:srgbClr val="4F46E5"/>
            </a:solidFill>
            <a:prstDash val="solid"/>
          </a:ln>
        </p:spPr>
      </p:sp>
      <p:sp>
        <p:nvSpPr>
          <p:cNvPr id="14" name="Text 12"/>
          <p:cNvSpPr/>
          <p:nvPr/>
        </p:nvSpPr>
        <p:spPr>
          <a:xfrm>
            <a:off x="6172200" y="1005840"/>
            <a:ext cx="2697480" cy="502920"/>
          </a:xfrm>
          <a:prstGeom prst="rect">
            <a:avLst/>
          </a:prstGeom>
          <a:noFill/>
          <a:ln/>
        </p:spPr>
        <p:txBody>
          <a:bodyPr wrap="square" rtlCol="0" anchor="ctr"/>
          <a:lstStyle/>
          <a:p>
            <a:pPr algn="ctr" indent="0" marL="0">
              <a:buNone/>
            </a:pPr>
            <a:r>
              <a:rPr lang="en-US" sz="2400" dirty="0">
                <a:solidFill>
                  <a:srgbClr val="000000"/>
                </a:solidFill>
              </a:rPr>
              <a:t>🏠</a:t>
            </a:r>
            <a:endParaRPr lang="en-US" sz="2400" dirty="0"/>
          </a:p>
        </p:txBody>
      </p:sp>
      <p:sp>
        <p:nvSpPr>
          <p:cNvPr id="15" name="Text 13"/>
          <p:cNvSpPr/>
          <p:nvPr/>
        </p:nvSpPr>
        <p:spPr>
          <a:xfrm>
            <a:off x="6263640" y="1508760"/>
            <a:ext cx="2514600" cy="365760"/>
          </a:xfrm>
          <a:prstGeom prst="rect">
            <a:avLst/>
          </a:prstGeom>
          <a:noFill/>
          <a:ln/>
        </p:spPr>
        <p:txBody>
          <a:bodyPr wrap="square" rtlCol="0" anchor="ctr"/>
          <a:lstStyle/>
          <a:p>
            <a:pPr algn="ctr" indent="0" marL="0">
              <a:buNone/>
            </a:pPr>
            <a:r>
              <a:rPr lang="en-US" sz="1200" b="1" dirty="0">
                <a:solidFill>
                  <a:srgbClr val="38BDF8"/>
                </a:solidFill>
                <a:latin typeface="Arial" pitchFamily="34" charset="0"/>
                <a:ea typeface="Arial" pitchFamily="34" charset="-122"/>
                <a:cs typeface="Arial" pitchFamily="34" charset="-120"/>
              </a:rPr>
              <a:t>Land Collateral Assessment</a:t>
            </a:r>
            <a:endParaRPr lang="en-US" sz="1200" dirty="0"/>
          </a:p>
        </p:txBody>
      </p:sp>
      <p:sp>
        <p:nvSpPr>
          <p:cNvPr id="16" name="Text 14"/>
          <p:cNvSpPr/>
          <p:nvPr/>
        </p:nvSpPr>
        <p:spPr>
          <a:xfrm>
            <a:off x="6263640" y="1874520"/>
            <a:ext cx="2514600" cy="914400"/>
          </a:xfrm>
          <a:prstGeom prst="rect">
            <a:avLst/>
          </a:prstGeom>
          <a:noFill/>
          <a:ln/>
        </p:spPr>
        <p:txBody>
          <a:bodyPr wrap="square" rtlCol="0" anchor="t"/>
          <a:lstStyle/>
          <a:p>
            <a:pPr algn="ctr" indent="0" marL="0">
              <a:buNone/>
            </a:pPr>
            <a:r>
              <a:rPr lang="en-US" sz="1050" dirty="0">
                <a:solidFill>
                  <a:srgbClr val="E2E8F0"/>
                </a:solidFill>
                <a:latin typeface="Arial" pitchFamily="34" charset="0"/>
                <a:ea typeface="Arial" pitchFamily="34" charset="-122"/>
                <a:cs typeface="Arial" pitchFamily="34" charset="-120"/>
              </a:rPr>
              <a:t>Provide district-wise land valuation with 70% LTV ratio to assess land-backed loan eligibility across 22 Indian states.</a:t>
            </a:r>
            <a:endParaRPr lang="en-US" sz="1050" dirty="0"/>
          </a:p>
        </p:txBody>
      </p:sp>
      <p:sp>
        <p:nvSpPr>
          <p:cNvPr id="17" name="Shape 15"/>
          <p:cNvSpPr/>
          <p:nvPr/>
        </p:nvSpPr>
        <p:spPr>
          <a:xfrm>
            <a:off x="1719072" y="3017520"/>
            <a:ext cx="2697480" cy="1920240"/>
          </a:xfrm>
          <a:prstGeom prst="roundRect">
            <a:avLst>
              <a:gd name="adj" fmla="val 5714"/>
            </a:avLst>
          </a:prstGeom>
          <a:solidFill>
            <a:srgbClr val="1E293B"/>
          </a:solidFill>
          <a:ln w="12700">
            <a:solidFill>
              <a:srgbClr val="4F46E5"/>
            </a:solidFill>
            <a:prstDash val="solid"/>
          </a:ln>
        </p:spPr>
      </p:sp>
      <p:sp>
        <p:nvSpPr>
          <p:cNvPr id="18" name="Text 16"/>
          <p:cNvSpPr/>
          <p:nvPr/>
        </p:nvSpPr>
        <p:spPr>
          <a:xfrm>
            <a:off x="1719072" y="3108960"/>
            <a:ext cx="2697480" cy="502920"/>
          </a:xfrm>
          <a:prstGeom prst="rect">
            <a:avLst/>
          </a:prstGeom>
          <a:noFill/>
          <a:ln/>
        </p:spPr>
        <p:txBody>
          <a:bodyPr wrap="square" rtlCol="0" anchor="ctr"/>
          <a:lstStyle/>
          <a:p>
            <a:pPr algn="ctr" indent="0" marL="0">
              <a:buNone/>
            </a:pPr>
            <a:r>
              <a:rPr lang="en-US" sz="2400" dirty="0">
                <a:solidFill>
                  <a:srgbClr val="000000"/>
                </a:solidFill>
              </a:rPr>
              <a:t>📊</a:t>
            </a:r>
            <a:endParaRPr lang="en-US" sz="2400" dirty="0"/>
          </a:p>
        </p:txBody>
      </p:sp>
      <p:sp>
        <p:nvSpPr>
          <p:cNvPr id="19" name="Text 17"/>
          <p:cNvSpPr/>
          <p:nvPr/>
        </p:nvSpPr>
        <p:spPr>
          <a:xfrm>
            <a:off x="1810512" y="3611880"/>
            <a:ext cx="2514600" cy="365760"/>
          </a:xfrm>
          <a:prstGeom prst="rect">
            <a:avLst/>
          </a:prstGeom>
          <a:noFill/>
          <a:ln/>
        </p:spPr>
        <p:txBody>
          <a:bodyPr wrap="square" rtlCol="0" anchor="ctr"/>
          <a:lstStyle/>
          <a:p>
            <a:pPr algn="ctr" indent="0" marL="0">
              <a:buNone/>
            </a:pPr>
            <a:r>
              <a:rPr lang="en-US" sz="1200" b="1" dirty="0">
                <a:solidFill>
                  <a:srgbClr val="38BDF8"/>
                </a:solidFill>
                <a:latin typeface="Arial" pitchFamily="34" charset="0"/>
                <a:ea typeface="Arial" pitchFamily="34" charset="-122"/>
                <a:cs typeface="Arial" pitchFamily="34" charset="-120"/>
              </a:rPr>
              <a:t>Financial Tracking &amp; Planning</a:t>
            </a:r>
            <a:endParaRPr lang="en-US" sz="1200" dirty="0"/>
          </a:p>
        </p:txBody>
      </p:sp>
      <p:sp>
        <p:nvSpPr>
          <p:cNvPr id="20" name="Text 18"/>
          <p:cNvSpPr/>
          <p:nvPr/>
        </p:nvSpPr>
        <p:spPr>
          <a:xfrm>
            <a:off x="1810512" y="3977640"/>
            <a:ext cx="2514600" cy="914400"/>
          </a:xfrm>
          <a:prstGeom prst="rect">
            <a:avLst/>
          </a:prstGeom>
          <a:noFill/>
          <a:ln/>
        </p:spPr>
        <p:txBody>
          <a:bodyPr wrap="square" rtlCol="0" anchor="t"/>
          <a:lstStyle/>
          <a:p>
            <a:pPr algn="ctr" indent="0" marL="0">
              <a:buNone/>
            </a:pPr>
            <a:r>
              <a:rPr lang="en-US" sz="1050" dirty="0">
                <a:solidFill>
                  <a:srgbClr val="E2E8F0"/>
                </a:solidFill>
                <a:latin typeface="Arial" pitchFamily="34" charset="0"/>
                <a:ea typeface="Arial" pitchFamily="34" charset="-122"/>
                <a:cs typeface="Arial" pitchFamily="34" charset="-120"/>
              </a:rPr>
              <a:t>Integrate expense tracking, budget planner, investment calculator (SIP/FD), net worth calculator, and credit score simulator.</a:t>
            </a:r>
            <a:endParaRPr lang="en-US" sz="1050" dirty="0"/>
          </a:p>
        </p:txBody>
      </p:sp>
      <p:sp>
        <p:nvSpPr>
          <p:cNvPr id="21" name="Shape 19"/>
          <p:cNvSpPr/>
          <p:nvPr/>
        </p:nvSpPr>
        <p:spPr>
          <a:xfrm>
            <a:off x="4690872" y="3017520"/>
            <a:ext cx="2697480" cy="1920240"/>
          </a:xfrm>
          <a:prstGeom prst="roundRect">
            <a:avLst>
              <a:gd name="adj" fmla="val 5714"/>
            </a:avLst>
          </a:prstGeom>
          <a:solidFill>
            <a:srgbClr val="1E293B"/>
          </a:solidFill>
          <a:ln w="12700">
            <a:solidFill>
              <a:srgbClr val="4F46E5"/>
            </a:solidFill>
            <a:prstDash val="solid"/>
          </a:ln>
        </p:spPr>
      </p:sp>
      <p:sp>
        <p:nvSpPr>
          <p:cNvPr id="22" name="Text 20"/>
          <p:cNvSpPr/>
          <p:nvPr/>
        </p:nvSpPr>
        <p:spPr>
          <a:xfrm>
            <a:off x="4690872" y="3108960"/>
            <a:ext cx="2697480" cy="502920"/>
          </a:xfrm>
          <a:prstGeom prst="rect">
            <a:avLst/>
          </a:prstGeom>
          <a:noFill/>
          <a:ln/>
        </p:spPr>
        <p:txBody>
          <a:bodyPr wrap="square" rtlCol="0" anchor="ctr"/>
          <a:lstStyle/>
          <a:p>
            <a:pPr algn="ctr" indent="0" marL="0">
              <a:buNone/>
            </a:pPr>
            <a:r>
              <a:rPr lang="en-US" sz="2400" dirty="0">
                <a:solidFill>
                  <a:srgbClr val="000000"/>
                </a:solidFill>
              </a:rPr>
              <a:t>☁️</a:t>
            </a:r>
            <a:endParaRPr lang="en-US" sz="2400" dirty="0"/>
          </a:p>
        </p:txBody>
      </p:sp>
      <p:sp>
        <p:nvSpPr>
          <p:cNvPr id="23" name="Text 21"/>
          <p:cNvSpPr/>
          <p:nvPr/>
        </p:nvSpPr>
        <p:spPr>
          <a:xfrm>
            <a:off x="4782312" y="3611880"/>
            <a:ext cx="2514600" cy="365760"/>
          </a:xfrm>
          <a:prstGeom prst="rect">
            <a:avLst/>
          </a:prstGeom>
          <a:noFill/>
          <a:ln/>
        </p:spPr>
        <p:txBody>
          <a:bodyPr wrap="square" rtlCol="0" anchor="ctr"/>
          <a:lstStyle/>
          <a:p>
            <a:pPr algn="ctr" indent="0" marL="0">
              <a:buNone/>
            </a:pPr>
            <a:r>
              <a:rPr lang="en-US" sz="1200" b="1" dirty="0">
                <a:solidFill>
                  <a:srgbClr val="38BDF8"/>
                </a:solidFill>
                <a:latin typeface="Arial" pitchFamily="34" charset="0"/>
                <a:ea typeface="Arial" pitchFamily="34" charset="-122"/>
                <a:cs typeface="Arial" pitchFamily="34" charset="-120"/>
              </a:rPr>
              <a:t>Cloud Deployment</a:t>
            </a:r>
            <a:endParaRPr lang="en-US" sz="1200" dirty="0"/>
          </a:p>
        </p:txBody>
      </p:sp>
      <p:sp>
        <p:nvSpPr>
          <p:cNvPr id="24" name="Text 22"/>
          <p:cNvSpPr/>
          <p:nvPr/>
        </p:nvSpPr>
        <p:spPr>
          <a:xfrm>
            <a:off x="4782312" y="3977640"/>
            <a:ext cx="2514600" cy="914400"/>
          </a:xfrm>
          <a:prstGeom prst="rect">
            <a:avLst/>
          </a:prstGeom>
          <a:noFill/>
          <a:ln/>
        </p:spPr>
        <p:txBody>
          <a:bodyPr wrap="square" rtlCol="0" anchor="t"/>
          <a:lstStyle/>
          <a:p>
            <a:pPr algn="ctr" indent="0" marL="0">
              <a:buNone/>
            </a:pPr>
            <a:r>
              <a:rPr lang="en-US" sz="1050" dirty="0">
                <a:solidFill>
                  <a:srgbClr val="E2E8F0"/>
                </a:solidFill>
                <a:latin typeface="Arial" pitchFamily="34" charset="0"/>
                <a:ea typeface="Arial" pitchFamily="34" charset="-122"/>
                <a:cs typeface="Arial" pitchFamily="34" charset="-120"/>
              </a:rPr>
              <a:t>Deploy complete system on cloud with CI/CD — Backend on Render, Frontend on Vercel, code on GitHub.</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4F46E5"/>
          </a:solidFill>
          <a:ln w="12700">
            <a:solidFill>
              <a:srgbClr val="4F46E5"/>
            </a:solidFill>
            <a:prstDash val="solid"/>
          </a:ln>
        </p:spPr>
      </p:sp>
      <p:sp>
        <p:nvSpPr>
          <p:cNvPr id="3" name="Text 1"/>
          <p:cNvSpPr/>
          <p:nvPr/>
        </p:nvSpPr>
        <p:spPr>
          <a:xfrm>
            <a:off x="457200" y="182880"/>
            <a:ext cx="8229600" cy="594360"/>
          </a:xfrm>
          <a:prstGeom prst="rect">
            <a:avLst/>
          </a:prstGeom>
          <a:noFill/>
          <a:ln/>
        </p:spPr>
        <p:txBody>
          <a:bodyPr wrap="square" rtlCol="0" anchor="ctr"/>
          <a:lstStyle/>
          <a:p>
            <a:pPr indent="0" marL="0">
              <a:buNone/>
            </a:pPr>
            <a:r>
              <a:rPr lang="en-US" sz="3200" b="1" dirty="0">
                <a:solidFill>
                  <a:srgbClr val="FFFFFF"/>
                </a:solidFill>
                <a:latin typeface="Arial" pitchFamily="34" charset="0"/>
                <a:ea typeface="Arial" pitchFamily="34" charset="-122"/>
                <a:cs typeface="Arial" pitchFamily="34" charset="-120"/>
              </a:rPr>
              <a:t>Literature Survey</a:t>
            </a:r>
            <a:endParaRPr lang="en-US" sz="3200" dirty="0"/>
          </a:p>
        </p:txBody>
      </p:sp>
      <p:sp>
        <p:nvSpPr>
          <p:cNvPr id="4" name="Shape 2"/>
          <p:cNvSpPr/>
          <p:nvPr/>
        </p:nvSpPr>
        <p:spPr>
          <a:xfrm>
            <a:off x="0" y="5056632"/>
            <a:ext cx="9144000" cy="91440"/>
          </a:xfrm>
          <a:prstGeom prst="rect">
            <a:avLst/>
          </a:prstGeom>
          <a:solidFill>
            <a:srgbClr val="4F46E5"/>
          </a:solidFill>
          <a:ln w="12700">
            <a:solidFill>
              <a:srgbClr val="4F46E5"/>
            </a:solidFill>
            <a:prstDash val="solid"/>
          </a:ln>
        </p:spPr>
      </p:sp>
      <p:sp>
        <p:nvSpPr>
          <p:cNvPr id="5" name="Shape 3"/>
          <p:cNvSpPr/>
          <p:nvPr/>
        </p:nvSpPr>
        <p:spPr>
          <a:xfrm>
            <a:off x="2857" y="914400"/>
            <a:ext cx="24765000" cy="384048"/>
          </a:xfrm>
          <a:prstGeom prst="rect">
            <a:avLst/>
          </a:prstGeom>
          <a:solidFill>
            <a:srgbClr val="1E3A5F"/>
          </a:solidFill>
          <a:ln w="6350">
            <a:solidFill>
              <a:srgbClr val="4F46E5"/>
            </a:solidFill>
            <a:prstDash val="solid"/>
          </a:ln>
        </p:spPr>
      </p:sp>
      <p:sp>
        <p:nvSpPr>
          <p:cNvPr id="6" name="Text 4"/>
          <p:cNvSpPr/>
          <p:nvPr/>
        </p:nvSpPr>
        <p:spPr>
          <a:xfrm>
            <a:off x="2857" y="914400"/>
            <a:ext cx="2476500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Research Paper</a:t>
            </a:r>
            <a:endParaRPr lang="en-US" sz="1200" dirty="0"/>
          </a:p>
        </p:txBody>
      </p:sp>
      <p:sp>
        <p:nvSpPr>
          <p:cNvPr id="7" name="Shape 5"/>
          <p:cNvSpPr/>
          <p:nvPr/>
        </p:nvSpPr>
        <p:spPr>
          <a:xfrm>
            <a:off x="24767858" y="914400"/>
            <a:ext cx="30480000" cy="384048"/>
          </a:xfrm>
          <a:prstGeom prst="rect">
            <a:avLst/>
          </a:prstGeom>
          <a:solidFill>
            <a:srgbClr val="1E3A5F"/>
          </a:solidFill>
          <a:ln w="6350">
            <a:solidFill>
              <a:srgbClr val="4F46E5"/>
            </a:solidFill>
            <a:prstDash val="solid"/>
          </a:ln>
        </p:spPr>
      </p:sp>
      <p:sp>
        <p:nvSpPr>
          <p:cNvPr id="8" name="Text 6"/>
          <p:cNvSpPr/>
          <p:nvPr/>
        </p:nvSpPr>
        <p:spPr>
          <a:xfrm>
            <a:off x="24767858" y="914400"/>
            <a:ext cx="3048000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Contribution</a:t>
            </a:r>
            <a:endParaRPr lang="en-US" sz="1200" dirty="0"/>
          </a:p>
        </p:txBody>
      </p:sp>
      <p:sp>
        <p:nvSpPr>
          <p:cNvPr id="9" name="Shape 7"/>
          <p:cNvSpPr/>
          <p:nvPr/>
        </p:nvSpPr>
        <p:spPr>
          <a:xfrm>
            <a:off x="55247858" y="914400"/>
            <a:ext cx="30480000" cy="384048"/>
          </a:xfrm>
          <a:prstGeom prst="rect">
            <a:avLst/>
          </a:prstGeom>
          <a:solidFill>
            <a:srgbClr val="1E3A5F"/>
          </a:solidFill>
          <a:ln w="6350">
            <a:solidFill>
              <a:srgbClr val="4F46E5"/>
            </a:solidFill>
            <a:prstDash val="solid"/>
          </a:ln>
        </p:spPr>
      </p:sp>
      <p:sp>
        <p:nvSpPr>
          <p:cNvPr id="10" name="Text 8"/>
          <p:cNvSpPr/>
          <p:nvPr/>
        </p:nvSpPr>
        <p:spPr>
          <a:xfrm>
            <a:off x="55247858" y="914400"/>
            <a:ext cx="3048000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Research Gap</a:t>
            </a:r>
            <a:endParaRPr lang="en-US" sz="1200" dirty="0"/>
          </a:p>
        </p:txBody>
      </p:sp>
      <p:sp>
        <p:nvSpPr>
          <p:cNvPr id="11" name="Shape 9"/>
          <p:cNvSpPr/>
          <p:nvPr/>
        </p:nvSpPr>
        <p:spPr>
          <a:xfrm>
            <a:off x="2857" y="1298448"/>
            <a:ext cx="24765000" cy="548640"/>
          </a:xfrm>
          <a:prstGeom prst="rect">
            <a:avLst/>
          </a:prstGeom>
          <a:solidFill>
            <a:srgbClr val="1E293B"/>
          </a:solidFill>
          <a:ln w="6350">
            <a:solidFill>
              <a:srgbClr val="2D3748"/>
            </a:solidFill>
            <a:prstDash val="solid"/>
          </a:ln>
        </p:spPr>
      </p:sp>
      <p:sp>
        <p:nvSpPr>
          <p:cNvPr id="12" name="Text 10"/>
          <p:cNvSpPr/>
          <p:nvPr/>
        </p:nvSpPr>
        <p:spPr>
          <a:xfrm>
            <a:off x="48578" y="1298448"/>
            <a:ext cx="24673560" cy="548640"/>
          </a:xfrm>
          <a:prstGeom prst="rect">
            <a:avLst/>
          </a:prstGeom>
          <a:noFill/>
          <a:ln/>
        </p:spPr>
        <p:txBody>
          <a:bodyPr wrap="square" rtlCol="0" anchor="ctr"/>
          <a:lstStyle/>
          <a:p>
            <a:pPr indent="0" marL="0">
              <a:buNone/>
            </a:pPr>
            <a:r>
              <a:rPr lang="en-US" sz="1000" dirty="0">
                <a:solidFill>
                  <a:srgbClr val="E2E8F0"/>
                </a:solidFill>
                <a:latin typeface="Arial" pitchFamily="34" charset="0"/>
                <a:ea typeface="Arial" pitchFamily="34" charset="-122"/>
                <a:cs typeface="Arial" pitchFamily="34" charset="-120"/>
              </a:rPr>
              <a:t>Credit Risk Scoring using ML (2021)</a:t>
            </a:r>
            <a:endParaRPr lang="en-US" sz="1000" dirty="0"/>
          </a:p>
        </p:txBody>
      </p:sp>
      <p:sp>
        <p:nvSpPr>
          <p:cNvPr id="13" name="Shape 11"/>
          <p:cNvSpPr/>
          <p:nvPr/>
        </p:nvSpPr>
        <p:spPr>
          <a:xfrm>
            <a:off x="24767858" y="1298448"/>
            <a:ext cx="30480000" cy="548640"/>
          </a:xfrm>
          <a:prstGeom prst="rect">
            <a:avLst/>
          </a:prstGeom>
          <a:solidFill>
            <a:srgbClr val="1E293B"/>
          </a:solidFill>
          <a:ln w="6350">
            <a:solidFill>
              <a:srgbClr val="2D3748"/>
            </a:solidFill>
            <a:prstDash val="solid"/>
          </a:ln>
        </p:spPr>
      </p:sp>
      <p:sp>
        <p:nvSpPr>
          <p:cNvPr id="14" name="Text 12"/>
          <p:cNvSpPr/>
          <p:nvPr/>
        </p:nvSpPr>
        <p:spPr>
          <a:xfrm>
            <a:off x="24813578" y="1298448"/>
            <a:ext cx="30388560" cy="548640"/>
          </a:xfrm>
          <a:prstGeom prst="rect">
            <a:avLst/>
          </a:prstGeom>
          <a:noFill/>
          <a:ln/>
        </p:spPr>
        <p:txBody>
          <a:bodyPr wrap="square" rtlCol="0" anchor="ctr"/>
          <a:lstStyle/>
          <a:p>
            <a:pPr indent="0" marL="0">
              <a:buNone/>
            </a:pPr>
            <a:r>
              <a:rPr lang="en-US" sz="1000" dirty="0">
                <a:solidFill>
                  <a:srgbClr val="E2E8F0"/>
                </a:solidFill>
                <a:latin typeface="Arial" pitchFamily="34" charset="0"/>
                <a:ea typeface="Arial" pitchFamily="34" charset="-122"/>
                <a:cs typeface="Arial" pitchFamily="34" charset="-120"/>
              </a:rPr>
              <a:t>Proposed RandomForest and XGBoost for credit risk with tabular data.</a:t>
            </a:r>
            <a:endParaRPr lang="en-US" sz="1000" dirty="0"/>
          </a:p>
        </p:txBody>
      </p:sp>
      <p:sp>
        <p:nvSpPr>
          <p:cNvPr id="15" name="Shape 13"/>
          <p:cNvSpPr/>
          <p:nvPr/>
        </p:nvSpPr>
        <p:spPr>
          <a:xfrm>
            <a:off x="55247858" y="1298448"/>
            <a:ext cx="30480000" cy="548640"/>
          </a:xfrm>
          <a:prstGeom prst="rect">
            <a:avLst/>
          </a:prstGeom>
          <a:solidFill>
            <a:srgbClr val="1E293B"/>
          </a:solidFill>
          <a:ln w="6350">
            <a:solidFill>
              <a:srgbClr val="2D3748"/>
            </a:solidFill>
            <a:prstDash val="solid"/>
          </a:ln>
        </p:spPr>
      </p:sp>
      <p:sp>
        <p:nvSpPr>
          <p:cNvPr id="16" name="Text 14"/>
          <p:cNvSpPr/>
          <p:nvPr/>
        </p:nvSpPr>
        <p:spPr>
          <a:xfrm>
            <a:off x="55293578" y="1298448"/>
            <a:ext cx="30388560" cy="548640"/>
          </a:xfrm>
          <a:prstGeom prst="rect">
            <a:avLst/>
          </a:prstGeom>
          <a:noFill/>
          <a:ln/>
        </p:spPr>
        <p:txBody>
          <a:bodyPr wrap="square" rtlCol="0" anchor="ctr"/>
          <a:lstStyle/>
          <a:p>
            <a:pPr indent="0" marL="0">
              <a:buNone/>
            </a:pPr>
            <a:r>
              <a:rPr lang="en-US" sz="1000" dirty="0">
                <a:solidFill>
                  <a:srgbClr val="E2E8F0"/>
                </a:solidFill>
                <a:latin typeface="Arial" pitchFamily="34" charset="0"/>
                <a:ea typeface="Arial" pitchFamily="34" charset="-122"/>
                <a:cs typeface="Arial" pitchFamily="34" charset="-120"/>
              </a:rPr>
              <a:t>Focused only on credit score — no loan amount or employment analysis.</a:t>
            </a:r>
            <a:endParaRPr lang="en-US" sz="1000" dirty="0"/>
          </a:p>
        </p:txBody>
      </p:sp>
      <p:sp>
        <p:nvSpPr>
          <p:cNvPr id="17" name="Shape 15"/>
          <p:cNvSpPr/>
          <p:nvPr/>
        </p:nvSpPr>
        <p:spPr>
          <a:xfrm>
            <a:off x="2857" y="1847088"/>
            <a:ext cx="24765000" cy="548640"/>
          </a:xfrm>
          <a:prstGeom prst="rect">
            <a:avLst/>
          </a:prstGeom>
          <a:solidFill>
            <a:srgbClr val="111827"/>
          </a:solidFill>
          <a:ln w="6350">
            <a:solidFill>
              <a:srgbClr val="2D3748"/>
            </a:solidFill>
            <a:prstDash val="solid"/>
          </a:ln>
        </p:spPr>
      </p:sp>
      <p:sp>
        <p:nvSpPr>
          <p:cNvPr id="18" name="Text 16"/>
          <p:cNvSpPr/>
          <p:nvPr/>
        </p:nvSpPr>
        <p:spPr>
          <a:xfrm>
            <a:off x="48578" y="1847088"/>
            <a:ext cx="24673560" cy="548640"/>
          </a:xfrm>
          <a:prstGeom prst="rect">
            <a:avLst/>
          </a:prstGeom>
          <a:noFill/>
          <a:ln/>
        </p:spPr>
        <p:txBody>
          <a:bodyPr wrap="square" rtlCol="0" anchor="ctr"/>
          <a:lstStyle/>
          <a:p>
            <a:pPr indent="0" marL="0">
              <a:buNone/>
            </a:pPr>
            <a:r>
              <a:rPr lang="en-US" sz="1000" dirty="0">
                <a:solidFill>
                  <a:srgbClr val="E2E8F0"/>
                </a:solidFill>
                <a:latin typeface="Arial" pitchFamily="34" charset="0"/>
                <a:ea typeface="Arial" pitchFamily="34" charset="-122"/>
                <a:cs typeface="Arial" pitchFamily="34" charset="-120"/>
              </a:rPr>
              <a:t>Financial Risk in Banking (2022)</a:t>
            </a:r>
            <a:endParaRPr lang="en-US" sz="1000" dirty="0"/>
          </a:p>
        </p:txBody>
      </p:sp>
      <p:sp>
        <p:nvSpPr>
          <p:cNvPr id="19" name="Shape 17"/>
          <p:cNvSpPr/>
          <p:nvPr/>
        </p:nvSpPr>
        <p:spPr>
          <a:xfrm>
            <a:off x="24767858" y="1847088"/>
            <a:ext cx="30480000" cy="548640"/>
          </a:xfrm>
          <a:prstGeom prst="rect">
            <a:avLst/>
          </a:prstGeom>
          <a:solidFill>
            <a:srgbClr val="111827"/>
          </a:solidFill>
          <a:ln w="6350">
            <a:solidFill>
              <a:srgbClr val="2D3748"/>
            </a:solidFill>
            <a:prstDash val="solid"/>
          </a:ln>
        </p:spPr>
      </p:sp>
      <p:sp>
        <p:nvSpPr>
          <p:cNvPr id="20" name="Text 18"/>
          <p:cNvSpPr/>
          <p:nvPr/>
        </p:nvSpPr>
        <p:spPr>
          <a:xfrm>
            <a:off x="24813578" y="1847088"/>
            <a:ext cx="30388560" cy="548640"/>
          </a:xfrm>
          <a:prstGeom prst="rect">
            <a:avLst/>
          </a:prstGeom>
          <a:noFill/>
          <a:ln/>
        </p:spPr>
        <p:txBody>
          <a:bodyPr wrap="square" rtlCol="0" anchor="ctr"/>
          <a:lstStyle/>
          <a:p>
            <a:pPr indent="0" marL="0">
              <a:buNone/>
            </a:pPr>
            <a:r>
              <a:rPr lang="en-US" sz="1000" dirty="0">
                <a:solidFill>
                  <a:srgbClr val="E2E8F0"/>
                </a:solidFill>
                <a:latin typeface="Arial" pitchFamily="34" charset="0"/>
                <a:ea typeface="Arial" pitchFamily="34" charset="-122"/>
                <a:cs typeface="Arial" pitchFamily="34" charset="-120"/>
              </a:rPr>
              <a:t>Used logistic regression and decision trees for loan default prediction.</a:t>
            </a:r>
            <a:endParaRPr lang="en-US" sz="1000" dirty="0"/>
          </a:p>
        </p:txBody>
      </p:sp>
      <p:sp>
        <p:nvSpPr>
          <p:cNvPr id="21" name="Shape 19"/>
          <p:cNvSpPr/>
          <p:nvPr/>
        </p:nvSpPr>
        <p:spPr>
          <a:xfrm>
            <a:off x="55247858" y="1847088"/>
            <a:ext cx="30480000" cy="548640"/>
          </a:xfrm>
          <a:prstGeom prst="rect">
            <a:avLst/>
          </a:prstGeom>
          <a:solidFill>
            <a:srgbClr val="111827"/>
          </a:solidFill>
          <a:ln w="6350">
            <a:solidFill>
              <a:srgbClr val="2D3748"/>
            </a:solidFill>
            <a:prstDash val="solid"/>
          </a:ln>
        </p:spPr>
      </p:sp>
      <p:sp>
        <p:nvSpPr>
          <p:cNvPr id="22" name="Text 20"/>
          <p:cNvSpPr/>
          <p:nvPr/>
        </p:nvSpPr>
        <p:spPr>
          <a:xfrm>
            <a:off x="55293578" y="1847088"/>
            <a:ext cx="30388560" cy="548640"/>
          </a:xfrm>
          <a:prstGeom prst="rect">
            <a:avLst/>
          </a:prstGeom>
          <a:noFill/>
          <a:ln/>
        </p:spPr>
        <p:txBody>
          <a:bodyPr wrap="square" rtlCol="0" anchor="ctr"/>
          <a:lstStyle/>
          <a:p>
            <a:pPr indent="0" marL="0">
              <a:buNone/>
            </a:pPr>
            <a:r>
              <a:rPr lang="en-US" sz="1000" dirty="0">
                <a:solidFill>
                  <a:srgbClr val="E2E8F0"/>
                </a:solidFill>
                <a:latin typeface="Arial" pitchFamily="34" charset="0"/>
                <a:ea typeface="Arial" pitchFamily="34" charset="-122"/>
                <a:cs typeface="Arial" pitchFamily="34" charset="-120"/>
              </a:rPr>
              <a:t>No web-based real-time prediction system or user interface.</a:t>
            </a:r>
            <a:endParaRPr lang="en-US" sz="1000" dirty="0"/>
          </a:p>
        </p:txBody>
      </p:sp>
      <p:sp>
        <p:nvSpPr>
          <p:cNvPr id="23" name="Shape 21"/>
          <p:cNvSpPr/>
          <p:nvPr/>
        </p:nvSpPr>
        <p:spPr>
          <a:xfrm>
            <a:off x="2857" y="2395728"/>
            <a:ext cx="24765000" cy="548640"/>
          </a:xfrm>
          <a:prstGeom prst="rect">
            <a:avLst/>
          </a:prstGeom>
          <a:solidFill>
            <a:srgbClr val="1E293B"/>
          </a:solidFill>
          <a:ln w="6350">
            <a:solidFill>
              <a:srgbClr val="2D3748"/>
            </a:solidFill>
            <a:prstDash val="solid"/>
          </a:ln>
        </p:spPr>
      </p:sp>
      <p:sp>
        <p:nvSpPr>
          <p:cNvPr id="24" name="Text 22"/>
          <p:cNvSpPr/>
          <p:nvPr/>
        </p:nvSpPr>
        <p:spPr>
          <a:xfrm>
            <a:off x="48578" y="2395728"/>
            <a:ext cx="24673560" cy="548640"/>
          </a:xfrm>
          <a:prstGeom prst="rect">
            <a:avLst/>
          </a:prstGeom>
          <a:noFill/>
          <a:ln/>
        </p:spPr>
        <p:txBody>
          <a:bodyPr wrap="square" rtlCol="0" anchor="ctr"/>
          <a:lstStyle/>
          <a:p>
            <a:pPr indent="0" marL="0">
              <a:buNone/>
            </a:pPr>
            <a:r>
              <a:rPr lang="en-US" sz="1000" dirty="0">
                <a:solidFill>
                  <a:srgbClr val="E2E8F0"/>
                </a:solidFill>
                <a:latin typeface="Arial" pitchFamily="34" charset="0"/>
                <a:ea typeface="Arial" pitchFamily="34" charset="-122"/>
                <a:cs typeface="Arial" pitchFamily="34" charset="-120"/>
              </a:rPr>
              <a:t>Personal Finance Management Systems (2023)</a:t>
            </a:r>
            <a:endParaRPr lang="en-US" sz="1000" dirty="0"/>
          </a:p>
        </p:txBody>
      </p:sp>
      <p:sp>
        <p:nvSpPr>
          <p:cNvPr id="25" name="Shape 23"/>
          <p:cNvSpPr/>
          <p:nvPr/>
        </p:nvSpPr>
        <p:spPr>
          <a:xfrm>
            <a:off x="24767858" y="2395728"/>
            <a:ext cx="30480000" cy="548640"/>
          </a:xfrm>
          <a:prstGeom prst="rect">
            <a:avLst/>
          </a:prstGeom>
          <a:solidFill>
            <a:srgbClr val="1E293B"/>
          </a:solidFill>
          <a:ln w="6350">
            <a:solidFill>
              <a:srgbClr val="2D3748"/>
            </a:solidFill>
            <a:prstDash val="solid"/>
          </a:ln>
        </p:spPr>
      </p:sp>
      <p:sp>
        <p:nvSpPr>
          <p:cNvPr id="26" name="Text 24"/>
          <p:cNvSpPr/>
          <p:nvPr/>
        </p:nvSpPr>
        <p:spPr>
          <a:xfrm>
            <a:off x="24813578" y="2395728"/>
            <a:ext cx="30388560" cy="548640"/>
          </a:xfrm>
          <a:prstGeom prst="rect">
            <a:avLst/>
          </a:prstGeom>
          <a:noFill/>
          <a:ln/>
        </p:spPr>
        <p:txBody>
          <a:bodyPr wrap="square" rtlCol="0" anchor="ctr"/>
          <a:lstStyle/>
          <a:p>
            <a:pPr indent="0" marL="0">
              <a:buNone/>
            </a:pPr>
            <a:r>
              <a:rPr lang="en-US" sz="1000" dirty="0">
                <a:solidFill>
                  <a:srgbClr val="E2E8F0"/>
                </a:solidFill>
                <a:latin typeface="Arial" pitchFamily="34" charset="0"/>
                <a:ea typeface="Arial" pitchFamily="34" charset="-122"/>
                <a:cs typeface="Arial" pitchFamily="34" charset="-120"/>
              </a:rPr>
              <a:t>Built expense trackers and budget planners for individuals.</a:t>
            </a:r>
            <a:endParaRPr lang="en-US" sz="1000" dirty="0"/>
          </a:p>
        </p:txBody>
      </p:sp>
      <p:sp>
        <p:nvSpPr>
          <p:cNvPr id="27" name="Shape 25"/>
          <p:cNvSpPr/>
          <p:nvPr/>
        </p:nvSpPr>
        <p:spPr>
          <a:xfrm>
            <a:off x="55247858" y="2395728"/>
            <a:ext cx="30480000" cy="548640"/>
          </a:xfrm>
          <a:prstGeom prst="rect">
            <a:avLst/>
          </a:prstGeom>
          <a:solidFill>
            <a:srgbClr val="1E293B"/>
          </a:solidFill>
          <a:ln w="6350">
            <a:solidFill>
              <a:srgbClr val="2D3748"/>
            </a:solidFill>
            <a:prstDash val="solid"/>
          </a:ln>
        </p:spPr>
      </p:sp>
      <p:sp>
        <p:nvSpPr>
          <p:cNvPr id="28" name="Text 26"/>
          <p:cNvSpPr/>
          <p:nvPr/>
        </p:nvSpPr>
        <p:spPr>
          <a:xfrm>
            <a:off x="55293578" y="2395728"/>
            <a:ext cx="30388560" cy="548640"/>
          </a:xfrm>
          <a:prstGeom prst="rect">
            <a:avLst/>
          </a:prstGeom>
          <a:noFill/>
          <a:ln/>
        </p:spPr>
        <p:txBody>
          <a:bodyPr wrap="square" rtlCol="0" anchor="ctr"/>
          <a:lstStyle/>
          <a:p>
            <a:pPr indent="0" marL="0">
              <a:buNone/>
            </a:pPr>
            <a:r>
              <a:rPr lang="en-US" sz="1000" dirty="0">
                <a:solidFill>
                  <a:srgbClr val="E2E8F0"/>
                </a:solidFill>
                <a:latin typeface="Arial" pitchFamily="34" charset="0"/>
                <a:ea typeface="Arial" pitchFamily="34" charset="-122"/>
                <a:cs typeface="Arial" pitchFamily="34" charset="-120"/>
              </a:rPr>
              <a:t>No integration with loan risk or ML-based predictions.</a:t>
            </a:r>
            <a:endParaRPr lang="en-US" sz="1000" dirty="0"/>
          </a:p>
        </p:txBody>
      </p:sp>
      <p:sp>
        <p:nvSpPr>
          <p:cNvPr id="29" name="Shape 27"/>
          <p:cNvSpPr/>
          <p:nvPr/>
        </p:nvSpPr>
        <p:spPr>
          <a:xfrm>
            <a:off x="2857" y="2944368"/>
            <a:ext cx="24765000" cy="548640"/>
          </a:xfrm>
          <a:prstGeom prst="rect">
            <a:avLst/>
          </a:prstGeom>
          <a:solidFill>
            <a:srgbClr val="111827"/>
          </a:solidFill>
          <a:ln w="6350">
            <a:solidFill>
              <a:srgbClr val="2D3748"/>
            </a:solidFill>
            <a:prstDash val="solid"/>
          </a:ln>
        </p:spPr>
      </p:sp>
      <p:sp>
        <p:nvSpPr>
          <p:cNvPr id="30" name="Text 28"/>
          <p:cNvSpPr/>
          <p:nvPr/>
        </p:nvSpPr>
        <p:spPr>
          <a:xfrm>
            <a:off x="48578" y="2944368"/>
            <a:ext cx="24673560" cy="548640"/>
          </a:xfrm>
          <a:prstGeom prst="rect">
            <a:avLst/>
          </a:prstGeom>
          <a:noFill/>
          <a:ln/>
        </p:spPr>
        <p:txBody>
          <a:bodyPr wrap="square" rtlCol="0" anchor="ctr"/>
          <a:lstStyle/>
          <a:p>
            <a:pPr indent="0" marL="0">
              <a:buNone/>
            </a:pPr>
            <a:r>
              <a:rPr lang="en-US" sz="1000" dirty="0">
                <a:solidFill>
                  <a:srgbClr val="E2E8F0"/>
                </a:solidFill>
                <a:latin typeface="Arial" pitchFamily="34" charset="0"/>
                <a:ea typeface="Arial" pitchFamily="34" charset="-122"/>
                <a:cs typeface="Arial" pitchFamily="34" charset="-120"/>
              </a:rPr>
              <a:t>AI in FinTech Applications (2024)</a:t>
            </a:r>
            <a:endParaRPr lang="en-US" sz="1000" dirty="0"/>
          </a:p>
        </p:txBody>
      </p:sp>
      <p:sp>
        <p:nvSpPr>
          <p:cNvPr id="31" name="Shape 29"/>
          <p:cNvSpPr/>
          <p:nvPr/>
        </p:nvSpPr>
        <p:spPr>
          <a:xfrm>
            <a:off x="24767858" y="2944368"/>
            <a:ext cx="30480000" cy="548640"/>
          </a:xfrm>
          <a:prstGeom prst="rect">
            <a:avLst/>
          </a:prstGeom>
          <a:solidFill>
            <a:srgbClr val="111827"/>
          </a:solidFill>
          <a:ln w="6350">
            <a:solidFill>
              <a:srgbClr val="2D3748"/>
            </a:solidFill>
            <a:prstDash val="solid"/>
          </a:ln>
        </p:spPr>
      </p:sp>
      <p:sp>
        <p:nvSpPr>
          <p:cNvPr id="32" name="Text 30"/>
          <p:cNvSpPr/>
          <p:nvPr/>
        </p:nvSpPr>
        <p:spPr>
          <a:xfrm>
            <a:off x="24813578" y="2944368"/>
            <a:ext cx="30388560" cy="548640"/>
          </a:xfrm>
          <a:prstGeom prst="rect">
            <a:avLst/>
          </a:prstGeom>
          <a:noFill/>
          <a:ln/>
        </p:spPr>
        <p:txBody>
          <a:bodyPr wrap="square" rtlCol="0" anchor="ctr"/>
          <a:lstStyle/>
          <a:p>
            <a:pPr indent="0" marL="0">
              <a:buNone/>
            </a:pPr>
            <a:r>
              <a:rPr lang="en-US" sz="1000" dirty="0">
                <a:solidFill>
                  <a:srgbClr val="E2E8F0"/>
                </a:solidFill>
                <a:latin typeface="Arial" pitchFamily="34" charset="0"/>
                <a:ea typeface="Arial" pitchFamily="34" charset="-122"/>
                <a:cs typeface="Arial" pitchFamily="34" charset="-120"/>
              </a:rPr>
              <a:t>Reviewed AI tools in banking for fraud detection and credit scoring.</a:t>
            </a:r>
            <a:endParaRPr lang="en-US" sz="1000" dirty="0"/>
          </a:p>
        </p:txBody>
      </p:sp>
      <p:sp>
        <p:nvSpPr>
          <p:cNvPr id="33" name="Shape 31"/>
          <p:cNvSpPr/>
          <p:nvPr/>
        </p:nvSpPr>
        <p:spPr>
          <a:xfrm>
            <a:off x="55247858" y="2944368"/>
            <a:ext cx="30480000" cy="548640"/>
          </a:xfrm>
          <a:prstGeom prst="rect">
            <a:avLst/>
          </a:prstGeom>
          <a:solidFill>
            <a:srgbClr val="111827"/>
          </a:solidFill>
          <a:ln w="6350">
            <a:solidFill>
              <a:srgbClr val="2D3748"/>
            </a:solidFill>
            <a:prstDash val="solid"/>
          </a:ln>
        </p:spPr>
      </p:sp>
      <p:sp>
        <p:nvSpPr>
          <p:cNvPr id="34" name="Text 32"/>
          <p:cNvSpPr/>
          <p:nvPr/>
        </p:nvSpPr>
        <p:spPr>
          <a:xfrm>
            <a:off x="55293578" y="2944368"/>
            <a:ext cx="30388560" cy="548640"/>
          </a:xfrm>
          <a:prstGeom prst="rect">
            <a:avLst/>
          </a:prstGeom>
          <a:noFill/>
          <a:ln/>
        </p:spPr>
        <p:txBody>
          <a:bodyPr wrap="square" rtlCol="0" anchor="ctr"/>
          <a:lstStyle/>
          <a:p>
            <a:pPr indent="0" marL="0">
              <a:buNone/>
            </a:pPr>
            <a:r>
              <a:rPr lang="en-US" sz="1000" dirty="0">
                <a:solidFill>
                  <a:srgbClr val="E2E8F0"/>
                </a:solidFill>
                <a:latin typeface="Arial" pitchFamily="34" charset="0"/>
                <a:ea typeface="Arial" pitchFamily="34" charset="-122"/>
                <a:cs typeface="Arial" pitchFamily="34" charset="-120"/>
              </a:rPr>
              <a:t>No land collateral or Indian-context district-wise valuation.</a:t>
            </a:r>
            <a:endParaRPr lang="en-US" sz="1000" dirty="0"/>
          </a:p>
        </p:txBody>
      </p:sp>
      <p:sp>
        <p:nvSpPr>
          <p:cNvPr id="35" name="Shape 33"/>
          <p:cNvSpPr/>
          <p:nvPr/>
        </p:nvSpPr>
        <p:spPr>
          <a:xfrm>
            <a:off x="2857" y="3493008"/>
            <a:ext cx="24765000" cy="548640"/>
          </a:xfrm>
          <a:prstGeom prst="rect">
            <a:avLst/>
          </a:prstGeom>
          <a:solidFill>
            <a:srgbClr val="1E293B"/>
          </a:solidFill>
          <a:ln w="6350">
            <a:solidFill>
              <a:srgbClr val="2D3748"/>
            </a:solidFill>
            <a:prstDash val="solid"/>
          </a:ln>
        </p:spPr>
      </p:sp>
      <p:sp>
        <p:nvSpPr>
          <p:cNvPr id="36" name="Text 34"/>
          <p:cNvSpPr/>
          <p:nvPr/>
        </p:nvSpPr>
        <p:spPr>
          <a:xfrm>
            <a:off x="48578" y="3493008"/>
            <a:ext cx="24673560" cy="548640"/>
          </a:xfrm>
          <a:prstGeom prst="rect">
            <a:avLst/>
          </a:prstGeom>
          <a:noFill/>
          <a:ln/>
        </p:spPr>
        <p:txBody>
          <a:bodyPr wrap="square" rtlCol="0" anchor="ctr"/>
          <a:lstStyle/>
          <a:p>
            <a:pPr indent="0" marL="0">
              <a:buNone/>
            </a:pPr>
            <a:r>
              <a:rPr lang="en-US" sz="1000" dirty="0">
                <a:solidFill>
                  <a:srgbClr val="E2E8F0"/>
                </a:solidFill>
                <a:latin typeface="Arial" pitchFamily="34" charset="0"/>
                <a:ea typeface="Arial" pitchFamily="34" charset="-122"/>
                <a:cs typeface="Arial" pitchFamily="34" charset="-120"/>
              </a:rPr>
              <a:t>Integrated Financial Platforms (2025)</a:t>
            </a:r>
            <a:endParaRPr lang="en-US" sz="1000" dirty="0"/>
          </a:p>
        </p:txBody>
      </p:sp>
      <p:sp>
        <p:nvSpPr>
          <p:cNvPr id="37" name="Shape 35"/>
          <p:cNvSpPr/>
          <p:nvPr/>
        </p:nvSpPr>
        <p:spPr>
          <a:xfrm>
            <a:off x="24767858" y="3493008"/>
            <a:ext cx="30480000" cy="548640"/>
          </a:xfrm>
          <a:prstGeom prst="rect">
            <a:avLst/>
          </a:prstGeom>
          <a:solidFill>
            <a:srgbClr val="1E293B"/>
          </a:solidFill>
          <a:ln w="6350">
            <a:solidFill>
              <a:srgbClr val="2D3748"/>
            </a:solidFill>
            <a:prstDash val="solid"/>
          </a:ln>
        </p:spPr>
      </p:sp>
      <p:sp>
        <p:nvSpPr>
          <p:cNvPr id="38" name="Text 36"/>
          <p:cNvSpPr/>
          <p:nvPr/>
        </p:nvSpPr>
        <p:spPr>
          <a:xfrm>
            <a:off x="24813578" y="3493008"/>
            <a:ext cx="30388560" cy="548640"/>
          </a:xfrm>
          <a:prstGeom prst="rect">
            <a:avLst/>
          </a:prstGeom>
          <a:noFill/>
          <a:ln/>
        </p:spPr>
        <p:txBody>
          <a:bodyPr wrap="square" rtlCol="0" anchor="ctr"/>
          <a:lstStyle/>
          <a:p>
            <a:pPr indent="0" marL="0">
              <a:buNone/>
            </a:pPr>
            <a:r>
              <a:rPr lang="en-US" sz="1000" dirty="0">
                <a:solidFill>
                  <a:srgbClr val="E2E8F0"/>
                </a:solidFill>
                <a:latin typeface="Arial" pitchFamily="34" charset="0"/>
                <a:ea typeface="Arial" pitchFamily="34" charset="-122"/>
                <a:cs typeface="Arial" pitchFamily="34" charset="-120"/>
              </a:rPr>
              <a:t>Proposed unified financial dashboards with multiple tools.</a:t>
            </a:r>
            <a:endParaRPr lang="en-US" sz="1000" dirty="0"/>
          </a:p>
        </p:txBody>
      </p:sp>
      <p:sp>
        <p:nvSpPr>
          <p:cNvPr id="39" name="Shape 37"/>
          <p:cNvSpPr/>
          <p:nvPr/>
        </p:nvSpPr>
        <p:spPr>
          <a:xfrm>
            <a:off x="55247858" y="3493008"/>
            <a:ext cx="30480000" cy="548640"/>
          </a:xfrm>
          <a:prstGeom prst="rect">
            <a:avLst/>
          </a:prstGeom>
          <a:solidFill>
            <a:srgbClr val="1E293B"/>
          </a:solidFill>
          <a:ln w="6350">
            <a:solidFill>
              <a:srgbClr val="2D3748"/>
            </a:solidFill>
            <a:prstDash val="solid"/>
          </a:ln>
        </p:spPr>
      </p:sp>
      <p:sp>
        <p:nvSpPr>
          <p:cNvPr id="40" name="Text 38"/>
          <p:cNvSpPr/>
          <p:nvPr/>
        </p:nvSpPr>
        <p:spPr>
          <a:xfrm>
            <a:off x="55293578" y="3493008"/>
            <a:ext cx="30388560" cy="548640"/>
          </a:xfrm>
          <a:prstGeom prst="rect">
            <a:avLst/>
          </a:prstGeom>
          <a:noFill/>
          <a:ln/>
        </p:spPr>
        <p:txBody>
          <a:bodyPr wrap="square" rtlCol="0" anchor="ctr"/>
          <a:lstStyle/>
          <a:p>
            <a:pPr indent="0" marL="0">
              <a:buNone/>
            </a:pPr>
            <a:r>
              <a:rPr lang="en-US" sz="1000" dirty="0">
                <a:solidFill>
                  <a:srgbClr val="E2E8F0"/>
                </a:solidFill>
                <a:latin typeface="Arial" pitchFamily="34" charset="0"/>
                <a:ea typeface="Arial" pitchFamily="34" charset="-122"/>
                <a:cs typeface="Arial" pitchFamily="34" charset="-120"/>
              </a:rPr>
              <a:t>No AI-powered prediction or personalized user accounts.</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4F46E5"/>
          </a:solidFill>
          <a:ln w="12700">
            <a:solidFill>
              <a:srgbClr val="4F46E5"/>
            </a:solidFill>
            <a:prstDash val="solid"/>
          </a:ln>
        </p:spPr>
      </p:sp>
      <p:sp>
        <p:nvSpPr>
          <p:cNvPr id="3" name="Text 1"/>
          <p:cNvSpPr/>
          <p:nvPr/>
        </p:nvSpPr>
        <p:spPr>
          <a:xfrm>
            <a:off x="457200" y="182880"/>
            <a:ext cx="8229600" cy="594360"/>
          </a:xfrm>
          <a:prstGeom prst="rect">
            <a:avLst/>
          </a:prstGeom>
          <a:noFill/>
          <a:ln/>
        </p:spPr>
        <p:txBody>
          <a:bodyPr wrap="square" rtlCol="0" anchor="ctr"/>
          <a:lstStyle/>
          <a:p>
            <a:pPr indent="0" marL="0">
              <a:buNone/>
            </a:pPr>
            <a:r>
              <a:rPr lang="en-US" sz="3200" b="1" dirty="0">
                <a:solidFill>
                  <a:srgbClr val="FFFFFF"/>
                </a:solidFill>
                <a:latin typeface="Arial" pitchFamily="34" charset="0"/>
                <a:ea typeface="Arial" pitchFamily="34" charset="-122"/>
                <a:cs typeface="Arial" pitchFamily="34" charset="-120"/>
              </a:rPr>
              <a:t>Existing Work &amp; Limitations</a:t>
            </a:r>
            <a:endParaRPr lang="en-US" sz="3200" dirty="0"/>
          </a:p>
        </p:txBody>
      </p:sp>
      <p:sp>
        <p:nvSpPr>
          <p:cNvPr id="4" name="Shape 2"/>
          <p:cNvSpPr/>
          <p:nvPr/>
        </p:nvSpPr>
        <p:spPr>
          <a:xfrm>
            <a:off x="0" y="5056632"/>
            <a:ext cx="9144000" cy="91440"/>
          </a:xfrm>
          <a:prstGeom prst="rect">
            <a:avLst/>
          </a:prstGeom>
          <a:solidFill>
            <a:srgbClr val="4F46E5"/>
          </a:solidFill>
          <a:ln w="12700">
            <a:solidFill>
              <a:srgbClr val="4F46E5"/>
            </a:solidFill>
            <a:prstDash val="solid"/>
          </a:ln>
        </p:spPr>
      </p:sp>
      <p:sp>
        <p:nvSpPr>
          <p:cNvPr id="5" name="Shape 3"/>
          <p:cNvSpPr/>
          <p:nvPr/>
        </p:nvSpPr>
        <p:spPr>
          <a:xfrm>
            <a:off x="2857" y="914400"/>
            <a:ext cx="20955000" cy="384048"/>
          </a:xfrm>
          <a:prstGeom prst="rect">
            <a:avLst/>
          </a:prstGeom>
          <a:solidFill>
            <a:srgbClr val="1E3A5F"/>
          </a:solidFill>
          <a:ln w="6350">
            <a:solidFill>
              <a:srgbClr val="4F46E5"/>
            </a:solidFill>
            <a:prstDash val="solid"/>
          </a:ln>
        </p:spPr>
      </p:sp>
      <p:sp>
        <p:nvSpPr>
          <p:cNvPr id="6" name="Text 4"/>
          <p:cNvSpPr/>
          <p:nvPr/>
        </p:nvSpPr>
        <p:spPr>
          <a:xfrm>
            <a:off x="2857" y="914400"/>
            <a:ext cx="2095500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Existing System</a:t>
            </a:r>
            <a:endParaRPr lang="en-US" sz="1200" dirty="0"/>
          </a:p>
        </p:txBody>
      </p:sp>
      <p:sp>
        <p:nvSpPr>
          <p:cNvPr id="7" name="Shape 5"/>
          <p:cNvSpPr/>
          <p:nvPr/>
        </p:nvSpPr>
        <p:spPr>
          <a:xfrm>
            <a:off x="20957858" y="914400"/>
            <a:ext cx="28575000" cy="384048"/>
          </a:xfrm>
          <a:prstGeom prst="rect">
            <a:avLst/>
          </a:prstGeom>
          <a:solidFill>
            <a:srgbClr val="1E3A5F"/>
          </a:solidFill>
          <a:ln w="6350">
            <a:solidFill>
              <a:srgbClr val="4F46E5"/>
            </a:solidFill>
            <a:prstDash val="solid"/>
          </a:ln>
        </p:spPr>
      </p:sp>
      <p:sp>
        <p:nvSpPr>
          <p:cNvPr id="8" name="Text 6"/>
          <p:cNvSpPr/>
          <p:nvPr/>
        </p:nvSpPr>
        <p:spPr>
          <a:xfrm>
            <a:off x="20957858" y="914400"/>
            <a:ext cx="2857500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Key Features</a:t>
            </a:r>
            <a:endParaRPr lang="en-US" sz="1200" dirty="0"/>
          </a:p>
        </p:txBody>
      </p:sp>
      <p:sp>
        <p:nvSpPr>
          <p:cNvPr id="9" name="Shape 7"/>
          <p:cNvSpPr/>
          <p:nvPr/>
        </p:nvSpPr>
        <p:spPr>
          <a:xfrm>
            <a:off x="49532858" y="914400"/>
            <a:ext cx="36195000" cy="384048"/>
          </a:xfrm>
          <a:prstGeom prst="rect">
            <a:avLst/>
          </a:prstGeom>
          <a:solidFill>
            <a:srgbClr val="1E3A5F"/>
          </a:solidFill>
          <a:ln w="6350">
            <a:solidFill>
              <a:srgbClr val="4F46E5"/>
            </a:solidFill>
            <a:prstDash val="solid"/>
          </a:ln>
        </p:spPr>
      </p:sp>
      <p:sp>
        <p:nvSpPr>
          <p:cNvPr id="10" name="Text 8"/>
          <p:cNvSpPr/>
          <p:nvPr/>
        </p:nvSpPr>
        <p:spPr>
          <a:xfrm>
            <a:off x="49532858" y="914400"/>
            <a:ext cx="3619500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Limitation vs Our Project</a:t>
            </a:r>
            <a:endParaRPr lang="en-US" sz="1200" dirty="0"/>
          </a:p>
        </p:txBody>
      </p:sp>
      <p:sp>
        <p:nvSpPr>
          <p:cNvPr id="11" name="Shape 9"/>
          <p:cNvSpPr/>
          <p:nvPr/>
        </p:nvSpPr>
        <p:spPr>
          <a:xfrm>
            <a:off x="2857" y="1298448"/>
            <a:ext cx="20955000" cy="868680"/>
          </a:xfrm>
          <a:prstGeom prst="rect">
            <a:avLst/>
          </a:prstGeom>
          <a:solidFill>
            <a:srgbClr val="1E293B"/>
          </a:solidFill>
          <a:ln w="6350">
            <a:solidFill>
              <a:srgbClr val="2D3748"/>
            </a:solidFill>
            <a:prstDash val="solid"/>
          </a:ln>
        </p:spPr>
      </p:sp>
      <p:sp>
        <p:nvSpPr>
          <p:cNvPr id="12" name="Text 10"/>
          <p:cNvSpPr/>
          <p:nvPr/>
        </p:nvSpPr>
        <p:spPr>
          <a:xfrm>
            <a:off x="48578" y="1298448"/>
            <a:ext cx="20863560" cy="868680"/>
          </a:xfrm>
          <a:prstGeom prst="rect">
            <a:avLst/>
          </a:prstGeom>
          <a:noFill/>
          <a:ln/>
        </p:spPr>
        <p:txBody>
          <a:bodyPr wrap="square" rtlCol="0" anchor="ctr"/>
          <a:lstStyle/>
          <a:p>
            <a:pPr indent="0" marL="0">
              <a:buNone/>
            </a:pPr>
            <a:r>
              <a:rPr lang="en-US" sz="1050" dirty="0">
                <a:solidFill>
                  <a:srgbClr val="E2E8F0"/>
                </a:solidFill>
                <a:latin typeface="Arial" pitchFamily="34" charset="0"/>
                <a:ea typeface="Arial" pitchFamily="34" charset="-122"/>
                <a:cs typeface="Arial" pitchFamily="34" charset="-120"/>
              </a:rPr>
              <a:t>CIBIL / Experian Credit Score</a:t>
            </a:r>
            <a:endParaRPr lang="en-US" sz="1050" dirty="0"/>
          </a:p>
        </p:txBody>
      </p:sp>
      <p:sp>
        <p:nvSpPr>
          <p:cNvPr id="13" name="Shape 11"/>
          <p:cNvSpPr/>
          <p:nvPr/>
        </p:nvSpPr>
        <p:spPr>
          <a:xfrm>
            <a:off x="20957858" y="1298448"/>
            <a:ext cx="28575000" cy="868680"/>
          </a:xfrm>
          <a:prstGeom prst="rect">
            <a:avLst/>
          </a:prstGeom>
          <a:solidFill>
            <a:srgbClr val="1E293B"/>
          </a:solidFill>
          <a:ln w="6350">
            <a:solidFill>
              <a:srgbClr val="2D3748"/>
            </a:solidFill>
            <a:prstDash val="solid"/>
          </a:ln>
        </p:spPr>
      </p:sp>
      <p:sp>
        <p:nvSpPr>
          <p:cNvPr id="14" name="Text 12"/>
          <p:cNvSpPr/>
          <p:nvPr/>
        </p:nvSpPr>
        <p:spPr>
          <a:xfrm>
            <a:off x="21003578" y="1298448"/>
            <a:ext cx="28483560" cy="868680"/>
          </a:xfrm>
          <a:prstGeom prst="rect">
            <a:avLst/>
          </a:prstGeom>
          <a:noFill/>
          <a:ln/>
        </p:spPr>
        <p:txBody>
          <a:bodyPr wrap="square" rtlCol="0" anchor="ctr"/>
          <a:lstStyle/>
          <a:p>
            <a:pPr indent="0" marL="0">
              <a:buNone/>
            </a:pPr>
            <a:r>
              <a:rPr lang="en-US" sz="1050" dirty="0">
                <a:solidFill>
                  <a:srgbClr val="E2E8F0"/>
                </a:solidFill>
                <a:latin typeface="Arial" pitchFamily="34" charset="0"/>
                <a:ea typeface="Arial" pitchFamily="34" charset="-122"/>
                <a:cs typeface="Arial" pitchFamily="34" charset="-120"/>
              </a:rPr>
              <a:t>Provides credit score and basic credit report.</a:t>
            </a:r>
            <a:endParaRPr lang="en-US" sz="1050" dirty="0"/>
          </a:p>
        </p:txBody>
      </p:sp>
      <p:sp>
        <p:nvSpPr>
          <p:cNvPr id="15" name="Shape 13"/>
          <p:cNvSpPr/>
          <p:nvPr/>
        </p:nvSpPr>
        <p:spPr>
          <a:xfrm>
            <a:off x="49532858" y="1298448"/>
            <a:ext cx="36195000" cy="868680"/>
          </a:xfrm>
          <a:prstGeom prst="rect">
            <a:avLst/>
          </a:prstGeom>
          <a:solidFill>
            <a:srgbClr val="1E293B"/>
          </a:solidFill>
          <a:ln w="6350">
            <a:solidFill>
              <a:srgbClr val="2D3748"/>
            </a:solidFill>
            <a:prstDash val="solid"/>
          </a:ln>
        </p:spPr>
      </p:sp>
      <p:sp>
        <p:nvSpPr>
          <p:cNvPr id="16" name="Text 14"/>
          <p:cNvSpPr/>
          <p:nvPr/>
        </p:nvSpPr>
        <p:spPr>
          <a:xfrm>
            <a:off x="49578578" y="1298448"/>
            <a:ext cx="36103560" cy="868680"/>
          </a:xfrm>
          <a:prstGeom prst="rect">
            <a:avLst/>
          </a:prstGeom>
          <a:noFill/>
          <a:ln/>
        </p:spPr>
        <p:txBody>
          <a:bodyPr wrap="square" rtlCol="0" anchor="ctr"/>
          <a:lstStyle/>
          <a:p>
            <a:pPr indent="0" marL="0">
              <a:buNone/>
            </a:pPr>
            <a:r>
              <a:rPr lang="en-US" sz="1050" dirty="0">
                <a:solidFill>
                  <a:srgbClr val="E2E8F0"/>
                </a:solidFill>
                <a:latin typeface="Arial" pitchFamily="34" charset="0"/>
                <a:ea typeface="Arial" pitchFamily="34" charset="-122"/>
                <a:cs typeface="Arial" pitchFamily="34" charset="-120"/>
              </a:rPr>
              <a:t>Shows only a score — no loan prediction, no expense tracking, no investment planning, no user dashboard.</a:t>
            </a:r>
            <a:endParaRPr lang="en-US" sz="1050" dirty="0"/>
          </a:p>
        </p:txBody>
      </p:sp>
      <p:sp>
        <p:nvSpPr>
          <p:cNvPr id="17" name="Shape 15"/>
          <p:cNvSpPr/>
          <p:nvPr/>
        </p:nvSpPr>
        <p:spPr>
          <a:xfrm>
            <a:off x="2857" y="2167128"/>
            <a:ext cx="20955000" cy="868680"/>
          </a:xfrm>
          <a:prstGeom prst="rect">
            <a:avLst/>
          </a:prstGeom>
          <a:solidFill>
            <a:srgbClr val="111827"/>
          </a:solidFill>
          <a:ln w="6350">
            <a:solidFill>
              <a:srgbClr val="2D3748"/>
            </a:solidFill>
            <a:prstDash val="solid"/>
          </a:ln>
        </p:spPr>
      </p:sp>
      <p:sp>
        <p:nvSpPr>
          <p:cNvPr id="18" name="Text 16"/>
          <p:cNvSpPr/>
          <p:nvPr/>
        </p:nvSpPr>
        <p:spPr>
          <a:xfrm>
            <a:off x="48578" y="2167128"/>
            <a:ext cx="20863560" cy="868680"/>
          </a:xfrm>
          <a:prstGeom prst="rect">
            <a:avLst/>
          </a:prstGeom>
          <a:noFill/>
          <a:ln/>
        </p:spPr>
        <p:txBody>
          <a:bodyPr wrap="square" rtlCol="0" anchor="ctr"/>
          <a:lstStyle/>
          <a:p>
            <a:pPr indent="0" marL="0">
              <a:buNone/>
            </a:pPr>
            <a:r>
              <a:rPr lang="en-US" sz="1050" dirty="0">
                <a:solidFill>
                  <a:srgbClr val="E2E8F0"/>
                </a:solidFill>
                <a:latin typeface="Arial" pitchFamily="34" charset="0"/>
                <a:ea typeface="Arial" pitchFamily="34" charset="-122"/>
                <a:cs typeface="Arial" pitchFamily="34" charset="-120"/>
              </a:rPr>
              <a:t>Online Loan Calculators</a:t>
            </a:r>
            <a:endParaRPr lang="en-US" sz="1050" dirty="0"/>
          </a:p>
        </p:txBody>
      </p:sp>
      <p:sp>
        <p:nvSpPr>
          <p:cNvPr id="19" name="Shape 17"/>
          <p:cNvSpPr/>
          <p:nvPr/>
        </p:nvSpPr>
        <p:spPr>
          <a:xfrm>
            <a:off x="20957858" y="2167128"/>
            <a:ext cx="28575000" cy="868680"/>
          </a:xfrm>
          <a:prstGeom prst="rect">
            <a:avLst/>
          </a:prstGeom>
          <a:solidFill>
            <a:srgbClr val="111827"/>
          </a:solidFill>
          <a:ln w="6350">
            <a:solidFill>
              <a:srgbClr val="2D3748"/>
            </a:solidFill>
            <a:prstDash val="solid"/>
          </a:ln>
        </p:spPr>
      </p:sp>
      <p:sp>
        <p:nvSpPr>
          <p:cNvPr id="20" name="Text 18"/>
          <p:cNvSpPr/>
          <p:nvPr/>
        </p:nvSpPr>
        <p:spPr>
          <a:xfrm>
            <a:off x="21003578" y="2167128"/>
            <a:ext cx="28483560" cy="868680"/>
          </a:xfrm>
          <a:prstGeom prst="rect">
            <a:avLst/>
          </a:prstGeom>
          <a:noFill/>
          <a:ln/>
        </p:spPr>
        <p:txBody>
          <a:bodyPr wrap="square" rtlCol="0" anchor="ctr"/>
          <a:lstStyle/>
          <a:p>
            <a:pPr indent="0" marL="0">
              <a:buNone/>
            </a:pPr>
            <a:r>
              <a:rPr lang="en-US" sz="1050" dirty="0">
                <a:solidFill>
                  <a:srgbClr val="E2E8F0"/>
                </a:solidFill>
                <a:latin typeface="Arial" pitchFamily="34" charset="0"/>
                <a:ea typeface="Arial" pitchFamily="34" charset="-122"/>
                <a:cs typeface="Arial" pitchFamily="34" charset="-120"/>
              </a:rPr>
              <a:t>Calculate EMI and loan eligibility based on income.</a:t>
            </a:r>
            <a:endParaRPr lang="en-US" sz="1050" dirty="0"/>
          </a:p>
        </p:txBody>
      </p:sp>
      <p:sp>
        <p:nvSpPr>
          <p:cNvPr id="21" name="Shape 19"/>
          <p:cNvSpPr/>
          <p:nvPr/>
        </p:nvSpPr>
        <p:spPr>
          <a:xfrm>
            <a:off x="49532858" y="2167128"/>
            <a:ext cx="36195000" cy="868680"/>
          </a:xfrm>
          <a:prstGeom prst="rect">
            <a:avLst/>
          </a:prstGeom>
          <a:solidFill>
            <a:srgbClr val="111827"/>
          </a:solidFill>
          <a:ln w="6350">
            <a:solidFill>
              <a:srgbClr val="2D3748"/>
            </a:solidFill>
            <a:prstDash val="solid"/>
          </a:ln>
        </p:spPr>
      </p:sp>
      <p:sp>
        <p:nvSpPr>
          <p:cNvPr id="22" name="Text 20"/>
          <p:cNvSpPr/>
          <p:nvPr/>
        </p:nvSpPr>
        <p:spPr>
          <a:xfrm>
            <a:off x="49578578" y="2167128"/>
            <a:ext cx="36103560" cy="868680"/>
          </a:xfrm>
          <a:prstGeom prst="rect">
            <a:avLst/>
          </a:prstGeom>
          <a:noFill/>
          <a:ln/>
        </p:spPr>
        <p:txBody>
          <a:bodyPr wrap="square" rtlCol="0" anchor="ctr"/>
          <a:lstStyle/>
          <a:p>
            <a:pPr indent="0" marL="0">
              <a:buNone/>
            </a:pPr>
            <a:r>
              <a:rPr lang="en-US" sz="1050" dirty="0">
                <a:solidFill>
                  <a:srgbClr val="E2E8F0"/>
                </a:solidFill>
                <a:latin typeface="Arial" pitchFamily="34" charset="0"/>
                <a:ea typeface="Arial" pitchFamily="34" charset="-122"/>
                <a:cs typeface="Arial" pitchFamily="34" charset="-120"/>
              </a:rPr>
              <a:t>No ML model, no risk classification, no collateral check, no personalized user account.</a:t>
            </a:r>
            <a:endParaRPr lang="en-US" sz="1050" dirty="0"/>
          </a:p>
        </p:txBody>
      </p:sp>
      <p:sp>
        <p:nvSpPr>
          <p:cNvPr id="23" name="Shape 21"/>
          <p:cNvSpPr/>
          <p:nvPr/>
        </p:nvSpPr>
        <p:spPr>
          <a:xfrm>
            <a:off x="2857" y="3035808"/>
            <a:ext cx="20955000" cy="868680"/>
          </a:xfrm>
          <a:prstGeom prst="rect">
            <a:avLst/>
          </a:prstGeom>
          <a:solidFill>
            <a:srgbClr val="1E293B"/>
          </a:solidFill>
          <a:ln w="6350">
            <a:solidFill>
              <a:srgbClr val="2D3748"/>
            </a:solidFill>
            <a:prstDash val="solid"/>
          </a:ln>
        </p:spPr>
      </p:sp>
      <p:sp>
        <p:nvSpPr>
          <p:cNvPr id="24" name="Text 22"/>
          <p:cNvSpPr/>
          <p:nvPr/>
        </p:nvSpPr>
        <p:spPr>
          <a:xfrm>
            <a:off x="48578" y="3035808"/>
            <a:ext cx="20863560" cy="868680"/>
          </a:xfrm>
          <a:prstGeom prst="rect">
            <a:avLst/>
          </a:prstGeom>
          <a:noFill/>
          <a:ln/>
        </p:spPr>
        <p:txBody>
          <a:bodyPr wrap="square" rtlCol="0" anchor="ctr"/>
          <a:lstStyle/>
          <a:p>
            <a:pPr indent="0" marL="0">
              <a:buNone/>
            </a:pPr>
            <a:r>
              <a:rPr lang="en-US" sz="1050" dirty="0">
                <a:solidFill>
                  <a:srgbClr val="E2E8F0"/>
                </a:solidFill>
                <a:latin typeface="Arial" pitchFamily="34" charset="0"/>
                <a:ea typeface="Arial" pitchFamily="34" charset="-122"/>
                <a:cs typeface="Arial" pitchFamily="34" charset="-120"/>
              </a:rPr>
              <a:t>Personal Finance Apps (ET Money, Walnut)</a:t>
            </a:r>
            <a:endParaRPr lang="en-US" sz="1050" dirty="0"/>
          </a:p>
        </p:txBody>
      </p:sp>
      <p:sp>
        <p:nvSpPr>
          <p:cNvPr id="25" name="Shape 23"/>
          <p:cNvSpPr/>
          <p:nvPr/>
        </p:nvSpPr>
        <p:spPr>
          <a:xfrm>
            <a:off x="20957858" y="3035808"/>
            <a:ext cx="28575000" cy="868680"/>
          </a:xfrm>
          <a:prstGeom prst="rect">
            <a:avLst/>
          </a:prstGeom>
          <a:solidFill>
            <a:srgbClr val="1E293B"/>
          </a:solidFill>
          <a:ln w="6350">
            <a:solidFill>
              <a:srgbClr val="2D3748"/>
            </a:solidFill>
            <a:prstDash val="solid"/>
          </a:ln>
        </p:spPr>
      </p:sp>
      <p:sp>
        <p:nvSpPr>
          <p:cNvPr id="26" name="Text 24"/>
          <p:cNvSpPr/>
          <p:nvPr/>
        </p:nvSpPr>
        <p:spPr>
          <a:xfrm>
            <a:off x="21003578" y="3035808"/>
            <a:ext cx="28483560" cy="868680"/>
          </a:xfrm>
          <a:prstGeom prst="rect">
            <a:avLst/>
          </a:prstGeom>
          <a:noFill/>
          <a:ln/>
        </p:spPr>
        <p:txBody>
          <a:bodyPr wrap="square" rtlCol="0" anchor="ctr"/>
          <a:lstStyle/>
          <a:p>
            <a:pPr indent="0" marL="0">
              <a:buNone/>
            </a:pPr>
            <a:r>
              <a:rPr lang="en-US" sz="1050" dirty="0">
                <a:solidFill>
                  <a:srgbClr val="E2E8F0"/>
                </a:solidFill>
                <a:latin typeface="Arial" pitchFamily="34" charset="0"/>
                <a:ea typeface="Arial" pitchFamily="34" charset="-122"/>
                <a:cs typeface="Arial" pitchFamily="34" charset="-120"/>
              </a:rPr>
              <a:t>Expense tracking, budget management, investment tracking.</a:t>
            </a:r>
            <a:endParaRPr lang="en-US" sz="1050" dirty="0"/>
          </a:p>
        </p:txBody>
      </p:sp>
      <p:sp>
        <p:nvSpPr>
          <p:cNvPr id="27" name="Shape 25"/>
          <p:cNvSpPr/>
          <p:nvPr/>
        </p:nvSpPr>
        <p:spPr>
          <a:xfrm>
            <a:off x="49532858" y="3035808"/>
            <a:ext cx="36195000" cy="868680"/>
          </a:xfrm>
          <a:prstGeom prst="rect">
            <a:avLst/>
          </a:prstGeom>
          <a:solidFill>
            <a:srgbClr val="1E293B"/>
          </a:solidFill>
          <a:ln w="6350">
            <a:solidFill>
              <a:srgbClr val="2D3748"/>
            </a:solidFill>
            <a:prstDash val="solid"/>
          </a:ln>
        </p:spPr>
      </p:sp>
      <p:sp>
        <p:nvSpPr>
          <p:cNvPr id="28" name="Text 26"/>
          <p:cNvSpPr/>
          <p:nvPr/>
        </p:nvSpPr>
        <p:spPr>
          <a:xfrm>
            <a:off x="49578578" y="3035808"/>
            <a:ext cx="36103560" cy="868680"/>
          </a:xfrm>
          <a:prstGeom prst="rect">
            <a:avLst/>
          </a:prstGeom>
          <a:noFill/>
          <a:ln/>
        </p:spPr>
        <p:txBody>
          <a:bodyPr wrap="square" rtlCol="0" anchor="ctr"/>
          <a:lstStyle/>
          <a:p>
            <a:pPr indent="0" marL="0">
              <a:buNone/>
            </a:pPr>
            <a:r>
              <a:rPr lang="en-US" sz="1050" dirty="0">
                <a:solidFill>
                  <a:srgbClr val="E2E8F0"/>
                </a:solidFill>
                <a:latin typeface="Arial" pitchFamily="34" charset="0"/>
                <a:ea typeface="Arial" pitchFamily="34" charset="-122"/>
                <a:cs typeface="Arial" pitchFamily="34" charset="-120"/>
              </a:rPr>
              <a:t>No loan risk prediction, no AI assistant, no land collateral or credit score simulation.</a:t>
            </a:r>
            <a:endParaRPr lang="en-US" sz="1050" dirty="0"/>
          </a:p>
        </p:txBody>
      </p:sp>
      <p:sp>
        <p:nvSpPr>
          <p:cNvPr id="29" name="Shape 27"/>
          <p:cNvSpPr/>
          <p:nvPr/>
        </p:nvSpPr>
        <p:spPr>
          <a:xfrm>
            <a:off x="2857" y="3904488"/>
            <a:ext cx="20955000" cy="868680"/>
          </a:xfrm>
          <a:prstGeom prst="rect">
            <a:avLst/>
          </a:prstGeom>
          <a:solidFill>
            <a:srgbClr val="111827"/>
          </a:solidFill>
          <a:ln w="6350">
            <a:solidFill>
              <a:srgbClr val="2D3748"/>
            </a:solidFill>
            <a:prstDash val="solid"/>
          </a:ln>
        </p:spPr>
      </p:sp>
      <p:sp>
        <p:nvSpPr>
          <p:cNvPr id="30" name="Text 28"/>
          <p:cNvSpPr/>
          <p:nvPr/>
        </p:nvSpPr>
        <p:spPr>
          <a:xfrm>
            <a:off x="48578" y="3904488"/>
            <a:ext cx="20863560" cy="868680"/>
          </a:xfrm>
          <a:prstGeom prst="rect">
            <a:avLst/>
          </a:prstGeom>
          <a:noFill/>
          <a:ln/>
        </p:spPr>
        <p:txBody>
          <a:bodyPr wrap="square" rtlCol="0" anchor="ctr"/>
          <a:lstStyle/>
          <a:p>
            <a:pPr indent="0" marL="0">
              <a:buNone/>
            </a:pPr>
            <a:r>
              <a:rPr lang="en-US" sz="1050" dirty="0">
                <a:solidFill>
                  <a:srgbClr val="E2E8F0"/>
                </a:solidFill>
                <a:latin typeface="Arial" pitchFamily="34" charset="0"/>
                <a:ea typeface="Arial" pitchFamily="34" charset="-122"/>
                <a:cs typeface="Arial" pitchFamily="34" charset="-120"/>
              </a:rPr>
              <a:t>Bank Loan Portals</a:t>
            </a:r>
            <a:endParaRPr lang="en-US" sz="1050" dirty="0"/>
          </a:p>
        </p:txBody>
      </p:sp>
      <p:sp>
        <p:nvSpPr>
          <p:cNvPr id="31" name="Shape 29"/>
          <p:cNvSpPr/>
          <p:nvPr/>
        </p:nvSpPr>
        <p:spPr>
          <a:xfrm>
            <a:off x="20957858" y="3904488"/>
            <a:ext cx="28575000" cy="868680"/>
          </a:xfrm>
          <a:prstGeom prst="rect">
            <a:avLst/>
          </a:prstGeom>
          <a:solidFill>
            <a:srgbClr val="111827"/>
          </a:solidFill>
          <a:ln w="6350">
            <a:solidFill>
              <a:srgbClr val="2D3748"/>
            </a:solidFill>
            <a:prstDash val="solid"/>
          </a:ln>
        </p:spPr>
      </p:sp>
      <p:sp>
        <p:nvSpPr>
          <p:cNvPr id="32" name="Text 30"/>
          <p:cNvSpPr/>
          <p:nvPr/>
        </p:nvSpPr>
        <p:spPr>
          <a:xfrm>
            <a:off x="21003578" y="3904488"/>
            <a:ext cx="28483560" cy="868680"/>
          </a:xfrm>
          <a:prstGeom prst="rect">
            <a:avLst/>
          </a:prstGeom>
          <a:noFill/>
          <a:ln/>
        </p:spPr>
        <p:txBody>
          <a:bodyPr wrap="square" rtlCol="0" anchor="ctr"/>
          <a:lstStyle/>
          <a:p>
            <a:pPr indent="0" marL="0">
              <a:buNone/>
            </a:pPr>
            <a:r>
              <a:rPr lang="en-US" sz="1050" dirty="0">
                <a:solidFill>
                  <a:srgbClr val="E2E8F0"/>
                </a:solidFill>
                <a:latin typeface="Arial" pitchFamily="34" charset="0"/>
                <a:ea typeface="Arial" pitchFamily="34" charset="-122"/>
                <a:cs typeface="Arial" pitchFamily="34" charset="-120"/>
              </a:rPr>
              <a:t>Accept loan applications and give manual decisions.</a:t>
            </a:r>
            <a:endParaRPr lang="en-US" sz="1050" dirty="0"/>
          </a:p>
        </p:txBody>
      </p:sp>
      <p:sp>
        <p:nvSpPr>
          <p:cNvPr id="33" name="Shape 31"/>
          <p:cNvSpPr/>
          <p:nvPr/>
        </p:nvSpPr>
        <p:spPr>
          <a:xfrm>
            <a:off x="49532858" y="3904488"/>
            <a:ext cx="36195000" cy="868680"/>
          </a:xfrm>
          <a:prstGeom prst="rect">
            <a:avLst/>
          </a:prstGeom>
          <a:solidFill>
            <a:srgbClr val="111827"/>
          </a:solidFill>
          <a:ln w="6350">
            <a:solidFill>
              <a:srgbClr val="2D3748"/>
            </a:solidFill>
            <a:prstDash val="solid"/>
          </a:ln>
        </p:spPr>
      </p:sp>
      <p:sp>
        <p:nvSpPr>
          <p:cNvPr id="34" name="Text 32"/>
          <p:cNvSpPr/>
          <p:nvPr/>
        </p:nvSpPr>
        <p:spPr>
          <a:xfrm>
            <a:off x="49578578" y="3904488"/>
            <a:ext cx="36103560" cy="868680"/>
          </a:xfrm>
          <a:prstGeom prst="rect">
            <a:avLst/>
          </a:prstGeom>
          <a:noFill/>
          <a:ln/>
        </p:spPr>
        <p:txBody>
          <a:bodyPr wrap="square" rtlCol="0" anchor="ctr"/>
          <a:lstStyle/>
          <a:p>
            <a:pPr indent="0" marL="0">
              <a:buNone/>
            </a:pPr>
            <a:r>
              <a:rPr lang="en-US" sz="1050" dirty="0">
                <a:solidFill>
                  <a:srgbClr val="E2E8F0"/>
                </a:solidFill>
                <a:latin typeface="Arial" pitchFamily="34" charset="0"/>
                <a:ea typeface="Arial" pitchFamily="34" charset="-122"/>
                <a:cs typeface="Arial" pitchFamily="34" charset="-120"/>
              </a:rPr>
              <a:t>Slow manual process, no real-time prediction, no integrated financial health insights for customer.</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4F46E5"/>
          </a:solidFill>
          <a:ln w="12700">
            <a:solidFill>
              <a:srgbClr val="4F46E5"/>
            </a:solidFill>
            <a:prstDash val="solid"/>
          </a:ln>
        </p:spPr>
      </p:sp>
      <p:sp>
        <p:nvSpPr>
          <p:cNvPr id="3" name="Text 1"/>
          <p:cNvSpPr/>
          <p:nvPr/>
        </p:nvSpPr>
        <p:spPr>
          <a:xfrm>
            <a:off x="457200" y="182880"/>
            <a:ext cx="8229600" cy="594360"/>
          </a:xfrm>
          <a:prstGeom prst="rect">
            <a:avLst/>
          </a:prstGeom>
          <a:noFill/>
          <a:ln/>
        </p:spPr>
        <p:txBody>
          <a:bodyPr wrap="square" rtlCol="0" anchor="ctr"/>
          <a:lstStyle/>
          <a:p>
            <a:pPr indent="0" marL="0">
              <a:buNone/>
            </a:pPr>
            <a:r>
              <a:rPr lang="en-US" sz="3200" b="1" dirty="0">
                <a:solidFill>
                  <a:srgbClr val="FFFFFF"/>
                </a:solidFill>
                <a:latin typeface="Arial" pitchFamily="34" charset="0"/>
                <a:ea typeface="Arial" pitchFamily="34" charset="-122"/>
                <a:cs typeface="Arial" pitchFamily="34" charset="-120"/>
              </a:rPr>
              <a:t>Proposed Work &amp; Advantages</a:t>
            </a:r>
            <a:endParaRPr lang="en-US" sz="3200" dirty="0"/>
          </a:p>
        </p:txBody>
      </p:sp>
      <p:sp>
        <p:nvSpPr>
          <p:cNvPr id="4" name="Shape 2"/>
          <p:cNvSpPr/>
          <p:nvPr/>
        </p:nvSpPr>
        <p:spPr>
          <a:xfrm>
            <a:off x="0" y="5056632"/>
            <a:ext cx="9144000" cy="91440"/>
          </a:xfrm>
          <a:prstGeom prst="rect">
            <a:avLst/>
          </a:prstGeom>
          <a:solidFill>
            <a:srgbClr val="4F46E5"/>
          </a:solidFill>
          <a:ln w="12700">
            <a:solidFill>
              <a:srgbClr val="4F46E5"/>
            </a:solidFill>
            <a:prstDash val="solid"/>
          </a:ln>
        </p:spPr>
      </p:sp>
      <p:sp>
        <p:nvSpPr>
          <p:cNvPr id="5" name="Shape 3"/>
          <p:cNvSpPr/>
          <p:nvPr/>
        </p:nvSpPr>
        <p:spPr>
          <a:xfrm>
            <a:off x="274320" y="914400"/>
            <a:ext cx="4023360" cy="3977640"/>
          </a:xfrm>
          <a:prstGeom prst="roundRect">
            <a:avLst>
              <a:gd name="adj" fmla="val 2759"/>
            </a:avLst>
          </a:prstGeom>
          <a:solidFill>
            <a:srgbClr val="1E293B"/>
          </a:solidFill>
          <a:ln w="12700">
            <a:solidFill>
              <a:srgbClr val="4F46E5"/>
            </a:solidFill>
            <a:prstDash val="solid"/>
          </a:ln>
        </p:spPr>
      </p:sp>
      <p:sp>
        <p:nvSpPr>
          <p:cNvPr id="6" name="Text 4"/>
          <p:cNvSpPr/>
          <p:nvPr/>
        </p:nvSpPr>
        <p:spPr>
          <a:xfrm>
            <a:off x="365760" y="1005840"/>
            <a:ext cx="3840480" cy="365760"/>
          </a:xfrm>
          <a:prstGeom prst="rect">
            <a:avLst/>
          </a:prstGeom>
          <a:noFill/>
          <a:ln/>
        </p:spPr>
        <p:txBody>
          <a:bodyPr wrap="square" rtlCol="0" anchor="ctr"/>
          <a:lstStyle/>
          <a:p>
            <a:pPr indent="0" marL="0">
              <a:buNone/>
            </a:pPr>
            <a:r>
              <a:rPr lang="en-US" sz="1400" b="1" dirty="0">
                <a:solidFill>
                  <a:srgbClr val="38BDF8"/>
                </a:solidFill>
                <a:latin typeface="Arial" pitchFamily="34" charset="0"/>
                <a:ea typeface="Arial" pitchFamily="34" charset="-122"/>
                <a:cs typeface="Arial" pitchFamily="34" charset="-120"/>
              </a:rPr>
              <a:t>📋  Proposed Work</a:t>
            </a:r>
            <a:endParaRPr lang="en-US" sz="1400" dirty="0"/>
          </a:p>
        </p:txBody>
      </p:sp>
      <p:sp>
        <p:nvSpPr>
          <p:cNvPr id="7" name="Text 5"/>
          <p:cNvSpPr/>
          <p:nvPr/>
        </p:nvSpPr>
        <p:spPr>
          <a:xfrm>
            <a:off x="411480" y="1463040"/>
            <a:ext cx="3749040" cy="438912"/>
          </a:xfrm>
          <a:prstGeom prst="rect">
            <a:avLst/>
          </a:prstGeom>
          <a:noFill/>
          <a:ln/>
        </p:spPr>
        <p:txBody>
          <a:bodyPr wrap="square" rtlCol="0" anchor="t"/>
          <a:lstStyle/>
          <a:p>
            <a:pPr indent="0" marL="0">
              <a:buNone/>
            </a:pPr>
            <a:r>
              <a:rPr lang="en-US" sz="1100" dirty="0">
                <a:solidFill>
                  <a:srgbClr val="E2E8F0"/>
                </a:solidFill>
                <a:latin typeface="Arial" pitchFamily="34" charset="0"/>
                <a:ea typeface="Arial" pitchFamily="34" charset="-122"/>
                <a:cs typeface="Arial" pitchFamily="34" charset="-120"/>
              </a:rPr>
              <a:t>• AI-powered web platform integrating 20+ financial tools into one unified system</a:t>
            </a:r>
            <a:endParaRPr lang="en-US" sz="1100" dirty="0"/>
          </a:p>
        </p:txBody>
      </p:sp>
      <p:sp>
        <p:nvSpPr>
          <p:cNvPr id="8" name="Text 6"/>
          <p:cNvSpPr/>
          <p:nvPr/>
        </p:nvSpPr>
        <p:spPr>
          <a:xfrm>
            <a:off x="411480" y="1938528"/>
            <a:ext cx="3749040" cy="438912"/>
          </a:xfrm>
          <a:prstGeom prst="rect">
            <a:avLst/>
          </a:prstGeom>
          <a:noFill/>
          <a:ln/>
        </p:spPr>
        <p:txBody>
          <a:bodyPr wrap="square" rtlCol="0" anchor="t"/>
          <a:lstStyle/>
          <a:p>
            <a:pPr indent="0" marL="0">
              <a:buNone/>
            </a:pPr>
            <a:r>
              <a:rPr lang="en-US" sz="1100" dirty="0">
                <a:solidFill>
                  <a:srgbClr val="E2E8F0"/>
                </a:solidFill>
                <a:latin typeface="Arial" pitchFamily="34" charset="0"/>
                <a:ea typeface="Arial" pitchFamily="34" charset="-122"/>
                <a:cs typeface="Arial" pitchFamily="34" charset="-120"/>
              </a:rPr>
              <a:t>• Random Forest ML model for loan risk prediction with 96.71% accuracy</a:t>
            </a:r>
            <a:endParaRPr lang="en-US" sz="1100" dirty="0"/>
          </a:p>
        </p:txBody>
      </p:sp>
      <p:sp>
        <p:nvSpPr>
          <p:cNvPr id="9" name="Text 7"/>
          <p:cNvSpPr/>
          <p:nvPr/>
        </p:nvSpPr>
        <p:spPr>
          <a:xfrm>
            <a:off x="411480" y="2414016"/>
            <a:ext cx="3749040" cy="438912"/>
          </a:xfrm>
          <a:prstGeom prst="rect">
            <a:avLst/>
          </a:prstGeom>
          <a:noFill/>
          <a:ln/>
        </p:spPr>
        <p:txBody>
          <a:bodyPr wrap="square" rtlCol="0" anchor="t"/>
          <a:lstStyle/>
          <a:p>
            <a:pPr indent="0" marL="0">
              <a:buNone/>
            </a:pPr>
            <a:r>
              <a:rPr lang="en-US" sz="1100" dirty="0">
                <a:solidFill>
                  <a:srgbClr val="E2E8F0"/>
                </a:solidFill>
                <a:latin typeface="Arial" pitchFamily="34" charset="0"/>
                <a:ea typeface="Arial" pitchFamily="34" charset="-122"/>
                <a:cs typeface="Arial" pitchFamily="34" charset="-120"/>
              </a:rPr>
              <a:t>• Secure user authentication with personalized dashboard per customer</a:t>
            </a:r>
            <a:endParaRPr lang="en-US" sz="1100" dirty="0"/>
          </a:p>
        </p:txBody>
      </p:sp>
      <p:sp>
        <p:nvSpPr>
          <p:cNvPr id="10" name="Text 8"/>
          <p:cNvSpPr/>
          <p:nvPr/>
        </p:nvSpPr>
        <p:spPr>
          <a:xfrm>
            <a:off x="411480" y="2889504"/>
            <a:ext cx="3749040" cy="438912"/>
          </a:xfrm>
          <a:prstGeom prst="rect">
            <a:avLst/>
          </a:prstGeom>
          <a:noFill/>
          <a:ln/>
        </p:spPr>
        <p:txBody>
          <a:bodyPr wrap="square" rtlCol="0" anchor="t"/>
          <a:lstStyle/>
          <a:p>
            <a:pPr indent="0" marL="0">
              <a:buNone/>
            </a:pPr>
            <a:r>
              <a:rPr lang="en-US" sz="1100" dirty="0">
                <a:solidFill>
                  <a:srgbClr val="E2E8F0"/>
                </a:solidFill>
                <a:latin typeface="Arial" pitchFamily="34" charset="0"/>
                <a:ea typeface="Arial" pitchFamily="34" charset="-122"/>
                <a:cs typeface="Arial" pitchFamily="34" charset="-120"/>
              </a:rPr>
              <a:t>• Land collateral assessment with district-wise rates for 22 Indian states</a:t>
            </a:r>
            <a:endParaRPr lang="en-US" sz="1100" dirty="0"/>
          </a:p>
        </p:txBody>
      </p:sp>
      <p:sp>
        <p:nvSpPr>
          <p:cNvPr id="11" name="Text 9"/>
          <p:cNvSpPr/>
          <p:nvPr/>
        </p:nvSpPr>
        <p:spPr>
          <a:xfrm>
            <a:off x="411480" y="3364992"/>
            <a:ext cx="3749040" cy="438912"/>
          </a:xfrm>
          <a:prstGeom prst="rect">
            <a:avLst/>
          </a:prstGeom>
          <a:noFill/>
          <a:ln/>
        </p:spPr>
        <p:txBody>
          <a:bodyPr wrap="square" rtlCol="0" anchor="t"/>
          <a:lstStyle/>
          <a:p>
            <a:pPr indent="0" marL="0">
              <a:buNone/>
            </a:pPr>
            <a:r>
              <a:rPr lang="en-US" sz="1100" dirty="0">
                <a:solidFill>
                  <a:srgbClr val="E2E8F0"/>
                </a:solidFill>
                <a:latin typeface="Arial" pitchFamily="34" charset="0"/>
                <a:ea typeface="Arial" pitchFamily="34" charset="-122"/>
                <a:cs typeface="Arial" pitchFamily="34" charset="-120"/>
              </a:rPr>
              <a:t>• Monthly expense tracker feeding into loan risk for accurate prediction</a:t>
            </a:r>
            <a:endParaRPr lang="en-US" sz="1100" dirty="0"/>
          </a:p>
        </p:txBody>
      </p:sp>
      <p:sp>
        <p:nvSpPr>
          <p:cNvPr id="12" name="Text 10"/>
          <p:cNvSpPr/>
          <p:nvPr/>
        </p:nvSpPr>
        <p:spPr>
          <a:xfrm>
            <a:off x="411480" y="3840480"/>
            <a:ext cx="3749040" cy="438912"/>
          </a:xfrm>
          <a:prstGeom prst="rect">
            <a:avLst/>
          </a:prstGeom>
          <a:noFill/>
          <a:ln/>
        </p:spPr>
        <p:txBody>
          <a:bodyPr wrap="square" rtlCol="0" anchor="t"/>
          <a:lstStyle/>
          <a:p>
            <a:pPr indent="0" marL="0">
              <a:buNone/>
            </a:pPr>
            <a:r>
              <a:rPr lang="en-US" sz="1100" dirty="0">
                <a:solidFill>
                  <a:srgbClr val="E2E8F0"/>
                </a:solidFill>
                <a:latin typeface="Arial" pitchFamily="34" charset="0"/>
                <a:ea typeface="Arial" pitchFamily="34" charset="-122"/>
                <a:cs typeface="Arial" pitchFamily="34" charset="-120"/>
              </a:rPr>
              <a:t>• AI Money Assistant powered by Groq API (LLaMA 3.1)</a:t>
            </a:r>
            <a:endParaRPr lang="en-US" sz="1100" dirty="0"/>
          </a:p>
        </p:txBody>
      </p:sp>
      <p:sp>
        <p:nvSpPr>
          <p:cNvPr id="13" name="Text 11"/>
          <p:cNvSpPr/>
          <p:nvPr/>
        </p:nvSpPr>
        <p:spPr>
          <a:xfrm>
            <a:off x="411480" y="4315968"/>
            <a:ext cx="3749040" cy="438912"/>
          </a:xfrm>
          <a:prstGeom prst="rect">
            <a:avLst/>
          </a:prstGeom>
          <a:noFill/>
          <a:ln/>
        </p:spPr>
        <p:txBody>
          <a:bodyPr wrap="square" rtlCol="0" anchor="t"/>
          <a:lstStyle/>
          <a:p>
            <a:pPr indent="0" marL="0">
              <a:buNone/>
            </a:pPr>
            <a:r>
              <a:rPr lang="en-US" sz="1100" dirty="0">
                <a:solidFill>
                  <a:srgbClr val="E2E8F0"/>
                </a:solidFill>
                <a:latin typeface="Arial" pitchFamily="34" charset="0"/>
                <a:ea typeface="Arial" pitchFamily="34" charset="-122"/>
                <a:cs typeface="Arial" pitchFamily="34" charset="-120"/>
              </a:rPr>
              <a:t>• Deployed on cloud: Render (backend) + Vercel (frontend)</a:t>
            </a:r>
            <a:endParaRPr lang="en-US" sz="1100" dirty="0"/>
          </a:p>
        </p:txBody>
      </p:sp>
      <p:sp>
        <p:nvSpPr>
          <p:cNvPr id="14" name="Shape 12"/>
          <p:cNvSpPr/>
          <p:nvPr/>
        </p:nvSpPr>
        <p:spPr>
          <a:xfrm>
            <a:off x="4663440" y="914400"/>
            <a:ext cx="4160520" cy="3977640"/>
          </a:xfrm>
          <a:prstGeom prst="roundRect">
            <a:avLst>
              <a:gd name="adj" fmla="val 2759"/>
            </a:avLst>
          </a:prstGeom>
          <a:solidFill>
            <a:srgbClr val="1E293B"/>
          </a:solidFill>
          <a:ln w="12700">
            <a:solidFill>
              <a:srgbClr val="22C55E"/>
            </a:solidFill>
            <a:prstDash val="solid"/>
          </a:ln>
        </p:spPr>
      </p:sp>
      <p:sp>
        <p:nvSpPr>
          <p:cNvPr id="15" name="Text 13"/>
          <p:cNvSpPr/>
          <p:nvPr/>
        </p:nvSpPr>
        <p:spPr>
          <a:xfrm>
            <a:off x="4754880" y="1005840"/>
            <a:ext cx="3931920" cy="365760"/>
          </a:xfrm>
          <a:prstGeom prst="rect">
            <a:avLst/>
          </a:prstGeom>
          <a:noFill/>
          <a:ln/>
        </p:spPr>
        <p:txBody>
          <a:bodyPr wrap="square" rtlCol="0" anchor="ctr"/>
          <a:lstStyle/>
          <a:p>
            <a:pPr indent="0" marL="0">
              <a:buNone/>
            </a:pPr>
            <a:r>
              <a:rPr lang="en-US" sz="1400" b="1" dirty="0">
                <a:solidFill>
                  <a:srgbClr val="22C55E"/>
                </a:solidFill>
                <a:latin typeface="Arial" pitchFamily="34" charset="0"/>
                <a:ea typeface="Arial" pitchFamily="34" charset="-122"/>
                <a:cs typeface="Arial" pitchFamily="34" charset="-120"/>
              </a:rPr>
              <a:t>✅  Advantages</a:t>
            </a:r>
            <a:endParaRPr lang="en-US" sz="1400" dirty="0"/>
          </a:p>
        </p:txBody>
      </p:sp>
      <p:sp>
        <p:nvSpPr>
          <p:cNvPr id="16" name="Text 14"/>
          <p:cNvSpPr/>
          <p:nvPr/>
        </p:nvSpPr>
        <p:spPr>
          <a:xfrm>
            <a:off x="4754880" y="1463040"/>
            <a:ext cx="3931920" cy="438912"/>
          </a:xfrm>
          <a:prstGeom prst="rect">
            <a:avLst/>
          </a:prstGeom>
          <a:noFill/>
          <a:ln/>
        </p:spPr>
        <p:txBody>
          <a:bodyPr wrap="square" rtlCol="0" anchor="t"/>
          <a:lstStyle/>
          <a:p>
            <a:pPr indent="0" marL="0">
              <a:buNone/>
            </a:pPr>
            <a:r>
              <a:rPr lang="en-US" sz="1100" dirty="0">
                <a:solidFill>
                  <a:srgbClr val="E2E8F0"/>
                </a:solidFill>
                <a:latin typeface="Arial" pitchFamily="34" charset="0"/>
                <a:ea typeface="Arial" pitchFamily="34" charset="-122"/>
                <a:cs typeface="Arial" pitchFamily="34" charset="-120"/>
              </a:rPr>
              <a:t>• Replaces slow manual loan evaluation with instant AI prediction</a:t>
            </a:r>
            <a:endParaRPr lang="en-US" sz="1100" dirty="0"/>
          </a:p>
        </p:txBody>
      </p:sp>
      <p:sp>
        <p:nvSpPr>
          <p:cNvPr id="17" name="Text 15"/>
          <p:cNvSpPr/>
          <p:nvPr/>
        </p:nvSpPr>
        <p:spPr>
          <a:xfrm>
            <a:off x="4754880" y="1938528"/>
            <a:ext cx="3931920" cy="438912"/>
          </a:xfrm>
          <a:prstGeom prst="rect">
            <a:avLst/>
          </a:prstGeom>
          <a:noFill/>
          <a:ln/>
        </p:spPr>
        <p:txBody>
          <a:bodyPr wrap="square" rtlCol="0" anchor="t"/>
          <a:lstStyle/>
          <a:p>
            <a:pPr indent="0" marL="0">
              <a:buNone/>
            </a:pPr>
            <a:r>
              <a:rPr lang="en-US" sz="1100" dirty="0">
                <a:solidFill>
                  <a:srgbClr val="E2E8F0"/>
                </a:solidFill>
                <a:latin typeface="Arial" pitchFamily="34" charset="0"/>
                <a:ea typeface="Arial" pitchFamily="34" charset="-122"/>
                <a:cs typeface="Arial" pitchFamily="34" charset="-120"/>
              </a:rPr>
              <a:t>• Integrates all financial tools — no need for multiple apps</a:t>
            </a:r>
            <a:endParaRPr lang="en-US" sz="1100" dirty="0"/>
          </a:p>
        </p:txBody>
      </p:sp>
      <p:sp>
        <p:nvSpPr>
          <p:cNvPr id="18" name="Text 16"/>
          <p:cNvSpPr/>
          <p:nvPr/>
        </p:nvSpPr>
        <p:spPr>
          <a:xfrm>
            <a:off x="4754880" y="2414016"/>
            <a:ext cx="3931920" cy="438912"/>
          </a:xfrm>
          <a:prstGeom prst="rect">
            <a:avLst/>
          </a:prstGeom>
          <a:noFill/>
          <a:ln/>
        </p:spPr>
        <p:txBody>
          <a:bodyPr wrap="square" rtlCol="0" anchor="t"/>
          <a:lstStyle/>
          <a:p>
            <a:pPr indent="0" marL="0">
              <a:buNone/>
            </a:pPr>
            <a:r>
              <a:rPr lang="en-US" sz="1100" dirty="0">
                <a:solidFill>
                  <a:srgbClr val="E2E8F0"/>
                </a:solidFill>
                <a:latin typeface="Arial" pitchFamily="34" charset="0"/>
                <a:ea typeface="Arial" pitchFamily="34" charset="-122"/>
                <a:cs typeface="Arial" pitchFamily="34" charset="-120"/>
              </a:rPr>
              <a:t>• Personalized data per user — expenses, goals, loans, bills</a:t>
            </a:r>
            <a:endParaRPr lang="en-US" sz="1100" dirty="0"/>
          </a:p>
        </p:txBody>
      </p:sp>
      <p:sp>
        <p:nvSpPr>
          <p:cNvPr id="19" name="Text 17"/>
          <p:cNvSpPr/>
          <p:nvPr/>
        </p:nvSpPr>
        <p:spPr>
          <a:xfrm>
            <a:off x="4754880" y="2889504"/>
            <a:ext cx="3931920" cy="438912"/>
          </a:xfrm>
          <a:prstGeom prst="rect">
            <a:avLst/>
          </a:prstGeom>
          <a:noFill/>
          <a:ln/>
        </p:spPr>
        <p:txBody>
          <a:bodyPr wrap="square" rtlCol="0" anchor="t"/>
          <a:lstStyle/>
          <a:p>
            <a:pPr indent="0" marL="0">
              <a:buNone/>
            </a:pPr>
            <a:r>
              <a:rPr lang="en-US" sz="1100" dirty="0">
                <a:solidFill>
                  <a:srgbClr val="E2E8F0"/>
                </a:solidFill>
                <a:latin typeface="Arial" pitchFamily="34" charset="0"/>
                <a:ea typeface="Arial" pitchFamily="34" charset="-122"/>
                <a:cs typeface="Arial" pitchFamily="34" charset="-120"/>
              </a:rPr>
              <a:t>• Real-time spending alerts and overspending warnings</a:t>
            </a:r>
            <a:endParaRPr lang="en-US" sz="1100" dirty="0"/>
          </a:p>
        </p:txBody>
      </p:sp>
      <p:sp>
        <p:nvSpPr>
          <p:cNvPr id="20" name="Text 18"/>
          <p:cNvSpPr/>
          <p:nvPr/>
        </p:nvSpPr>
        <p:spPr>
          <a:xfrm>
            <a:off x="4754880" y="3364992"/>
            <a:ext cx="3931920" cy="438912"/>
          </a:xfrm>
          <a:prstGeom prst="rect">
            <a:avLst/>
          </a:prstGeom>
          <a:noFill/>
          <a:ln/>
        </p:spPr>
        <p:txBody>
          <a:bodyPr wrap="square" rtlCol="0" anchor="t"/>
          <a:lstStyle/>
          <a:p>
            <a:pPr indent="0" marL="0">
              <a:buNone/>
            </a:pPr>
            <a:r>
              <a:rPr lang="en-US" sz="1100" dirty="0">
                <a:solidFill>
                  <a:srgbClr val="E2E8F0"/>
                </a:solidFill>
                <a:latin typeface="Arial" pitchFamily="34" charset="0"/>
                <a:ea typeface="Arial" pitchFamily="34" charset="-122"/>
                <a:cs typeface="Arial" pitchFamily="34" charset="-120"/>
              </a:rPr>
              <a:t>• Helps users improve credit score with actionable tips</a:t>
            </a:r>
            <a:endParaRPr lang="en-US" sz="1100" dirty="0"/>
          </a:p>
        </p:txBody>
      </p:sp>
      <p:sp>
        <p:nvSpPr>
          <p:cNvPr id="21" name="Text 19"/>
          <p:cNvSpPr/>
          <p:nvPr/>
        </p:nvSpPr>
        <p:spPr>
          <a:xfrm>
            <a:off x="4754880" y="3840480"/>
            <a:ext cx="3931920" cy="438912"/>
          </a:xfrm>
          <a:prstGeom prst="rect">
            <a:avLst/>
          </a:prstGeom>
          <a:noFill/>
          <a:ln/>
        </p:spPr>
        <p:txBody>
          <a:bodyPr wrap="square" rtlCol="0" anchor="t"/>
          <a:lstStyle/>
          <a:p>
            <a:pPr indent="0" marL="0">
              <a:buNone/>
            </a:pPr>
            <a:r>
              <a:rPr lang="en-US" sz="1100" dirty="0">
                <a:solidFill>
                  <a:srgbClr val="E2E8F0"/>
                </a:solidFill>
                <a:latin typeface="Arial" pitchFamily="34" charset="0"/>
                <a:ea typeface="Arial" pitchFamily="34" charset="-122"/>
                <a:cs typeface="Arial" pitchFamily="34" charset="-120"/>
              </a:rPr>
              <a:t>• District-wise land valuation supports collateral-based loans</a:t>
            </a:r>
            <a:endParaRPr lang="en-US" sz="1100" dirty="0"/>
          </a:p>
        </p:txBody>
      </p:sp>
      <p:sp>
        <p:nvSpPr>
          <p:cNvPr id="22" name="Text 20"/>
          <p:cNvSpPr/>
          <p:nvPr/>
        </p:nvSpPr>
        <p:spPr>
          <a:xfrm>
            <a:off x="4754880" y="4315968"/>
            <a:ext cx="3931920" cy="438912"/>
          </a:xfrm>
          <a:prstGeom prst="rect">
            <a:avLst/>
          </a:prstGeom>
          <a:noFill/>
          <a:ln/>
        </p:spPr>
        <p:txBody>
          <a:bodyPr wrap="square" rtlCol="0" anchor="t"/>
          <a:lstStyle/>
          <a:p>
            <a:pPr indent="0" marL="0">
              <a:buNone/>
            </a:pPr>
            <a:r>
              <a:rPr lang="en-US" sz="1100" dirty="0">
                <a:solidFill>
                  <a:srgbClr val="E2E8F0"/>
                </a:solidFill>
                <a:latin typeface="Arial" pitchFamily="34" charset="0"/>
                <a:ea typeface="Arial" pitchFamily="34" charset="-122"/>
                <a:cs typeface="Arial" pitchFamily="34" charset="-120"/>
              </a:rPr>
              <a:t>• Free cloud deployment — accessible from any device anywhere</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4F46E5"/>
          </a:solidFill>
          <a:ln w="12700">
            <a:solidFill>
              <a:srgbClr val="4F46E5"/>
            </a:solidFill>
            <a:prstDash val="solid"/>
          </a:ln>
        </p:spPr>
      </p:sp>
      <p:sp>
        <p:nvSpPr>
          <p:cNvPr id="3" name="Text 1"/>
          <p:cNvSpPr/>
          <p:nvPr/>
        </p:nvSpPr>
        <p:spPr>
          <a:xfrm>
            <a:off x="457200" y="182880"/>
            <a:ext cx="8229600" cy="594360"/>
          </a:xfrm>
          <a:prstGeom prst="rect">
            <a:avLst/>
          </a:prstGeom>
          <a:noFill/>
          <a:ln/>
        </p:spPr>
        <p:txBody>
          <a:bodyPr wrap="square" rtlCol="0" anchor="ctr"/>
          <a:lstStyle/>
          <a:p>
            <a:pPr indent="0" marL="0">
              <a:buNone/>
            </a:pPr>
            <a:r>
              <a:rPr lang="en-US" sz="3000" b="1" dirty="0">
                <a:solidFill>
                  <a:srgbClr val="FFFFFF"/>
                </a:solidFill>
                <a:latin typeface="Arial" pitchFamily="34" charset="0"/>
                <a:ea typeface="Arial" pitchFamily="34" charset="-122"/>
                <a:cs typeface="Arial" pitchFamily="34" charset="-120"/>
              </a:rPr>
              <a:t>Software &amp; Hardware Requirements</a:t>
            </a:r>
            <a:endParaRPr lang="en-US" sz="3000" dirty="0"/>
          </a:p>
        </p:txBody>
      </p:sp>
      <p:sp>
        <p:nvSpPr>
          <p:cNvPr id="4" name="Shape 2"/>
          <p:cNvSpPr/>
          <p:nvPr/>
        </p:nvSpPr>
        <p:spPr>
          <a:xfrm>
            <a:off x="0" y="5056632"/>
            <a:ext cx="9144000" cy="91440"/>
          </a:xfrm>
          <a:prstGeom prst="rect">
            <a:avLst/>
          </a:prstGeom>
          <a:solidFill>
            <a:srgbClr val="4F46E5"/>
          </a:solidFill>
          <a:ln w="12700">
            <a:solidFill>
              <a:srgbClr val="4F46E5"/>
            </a:solidFill>
            <a:prstDash val="solid"/>
          </a:ln>
        </p:spPr>
      </p:sp>
      <p:sp>
        <p:nvSpPr>
          <p:cNvPr id="5" name="Shape 3"/>
          <p:cNvSpPr/>
          <p:nvPr/>
        </p:nvSpPr>
        <p:spPr>
          <a:xfrm>
            <a:off x="274320" y="914400"/>
            <a:ext cx="5303520" cy="3977640"/>
          </a:xfrm>
          <a:prstGeom prst="roundRect">
            <a:avLst>
              <a:gd name="adj" fmla="val 2299"/>
            </a:avLst>
          </a:prstGeom>
          <a:solidFill>
            <a:srgbClr val="1E293B"/>
          </a:solidFill>
          <a:ln w="12700">
            <a:solidFill>
              <a:srgbClr val="4F46E5"/>
            </a:solidFill>
            <a:prstDash val="solid"/>
          </a:ln>
        </p:spPr>
      </p:sp>
      <p:sp>
        <p:nvSpPr>
          <p:cNvPr id="6" name="Text 4"/>
          <p:cNvSpPr/>
          <p:nvPr/>
        </p:nvSpPr>
        <p:spPr>
          <a:xfrm>
            <a:off x="411480" y="987552"/>
            <a:ext cx="5029200" cy="347472"/>
          </a:xfrm>
          <a:prstGeom prst="rect">
            <a:avLst/>
          </a:prstGeom>
          <a:noFill/>
          <a:ln/>
        </p:spPr>
        <p:txBody>
          <a:bodyPr wrap="square" rtlCol="0" anchor="ctr"/>
          <a:lstStyle/>
          <a:p>
            <a:pPr indent="0" marL="0">
              <a:buNone/>
            </a:pPr>
            <a:r>
              <a:rPr lang="en-US" sz="1300" b="1" dirty="0">
                <a:solidFill>
                  <a:srgbClr val="38BDF8"/>
                </a:solidFill>
                <a:latin typeface="Arial" pitchFamily="34" charset="0"/>
                <a:ea typeface="Arial" pitchFamily="34" charset="-122"/>
                <a:cs typeface="Arial" pitchFamily="34" charset="-120"/>
              </a:rPr>
              <a:t>💻  Software Requirements</a:t>
            </a:r>
            <a:endParaRPr lang="en-US" sz="1300" dirty="0"/>
          </a:p>
        </p:txBody>
      </p:sp>
      <p:sp>
        <p:nvSpPr>
          <p:cNvPr id="7" name="Shape 5"/>
          <p:cNvSpPr/>
          <p:nvPr/>
        </p:nvSpPr>
        <p:spPr>
          <a:xfrm>
            <a:off x="320040" y="1389888"/>
            <a:ext cx="5212080" cy="274320"/>
          </a:xfrm>
          <a:prstGeom prst="rect">
            <a:avLst/>
          </a:prstGeom>
          <a:solidFill>
            <a:srgbClr val="1A2744"/>
          </a:solidFill>
          <a:ln w="12700">
            <a:solidFill>
              <a:srgbClr val="1E293B"/>
            </a:solidFill>
            <a:prstDash val="solid"/>
          </a:ln>
        </p:spPr>
      </p:sp>
      <p:sp>
        <p:nvSpPr>
          <p:cNvPr id="8" name="Text 6"/>
          <p:cNvSpPr/>
          <p:nvPr/>
        </p:nvSpPr>
        <p:spPr>
          <a:xfrm>
            <a:off x="411480" y="1389888"/>
            <a:ext cx="1463040" cy="274320"/>
          </a:xfrm>
          <a:prstGeom prst="rect">
            <a:avLst/>
          </a:prstGeom>
          <a:noFill/>
          <a:ln/>
        </p:spPr>
        <p:txBody>
          <a:bodyPr wrap="square" rtlCol="0" anchor="ctr"/>
          <a:lstStyle/>
          <a:p>
            <a:pPr indent="0" marL="0">
              <a:buNone/>
            </a:pPr>
            <a:r>
              <a:rPr lang="en-US" sz="1050" b="1" dirty="0">
                <a:solidFill>
                  <a:srgbClr val="38BDF8"/>
                </a:solidFill>
                <a:latin typeface="Arial" pitchFamily="34" charset="0"/>
                <a:ea typeface="Arial" pitchFamily="34" charset="-122"/>
                <a:cs typeface="Arial" pitchFamily="34" charset="-120"/>
              </a:rPr>
              <a:t>Frontend:</a:t>
            </a:r>
            <a:endParaRPr lang="en-US" sz="1050" dirty="0"/>
          </a:p>
        </p:txBody>
      </p:sp>
      <p:sp>
        <p:nvSpPr>
          <p:cNvPr id="9" name="Text 7"/>
          <p:cNvSpPr/>
          <p:nvPr/>
        </p:nvSpPr>
        <p:spPr>
          <a:xfrm>
            <a:off x="1920240" y="1389888"/>
            <a:ext cx="3474720" cy="274320"/>
          </a:xfrm>
          <a:prstGeom prst="rect">
            <a:avLst/>
          </a:prstGeom>
          <a:noFill/>
          <a:ln/>
        </p:spPr>
        <p:txBody>
          <a:bodyPr wrap="square" rtlCol="0" anchor="ctr"/>
          <a:lstStyle/>
          <a:p>
            <a:pPr indent="0" marL="0">
              <a:buNone/>
            </a:pPr>
            <a:r>
              <a:rPr lang="en-US" sz="1050" dirty="0">
                <a:solidFill>
                  <a:srgbClr val="E2E8F0"/>
                </a:solidFill>
                <a:latin typeface="Arial" pitchFamily="34" charset="0"/>
                <a:ea typeface="Arial" pitchFamily="34" charset="-122"/>
                <a:cs typeface="Arial" pitchFamily="34" charset="-120"/>
              </a:rPr>
              <a:t>React 18 + Vite, Recharts, Axios</a:t>
            </a:r>
            <a:endParaRPr lang="en-US" sz="1050" dirty="0"/>
          </a:p>
        </p:txBody>
      </p:sp>
      <p:sp>
        <p:nvSpPr>
          <p:cNvPr id="10" name="Shape 8"/>
          <p:cNvSpPr/>
          <p:nvPr/>
        </p:nvSpPr>
        <p:spPr>
          <a:xfrm>
            <a:off x="320040" y="1682496"/>
            <a:ext cx="5212080" cy="274320"/>
          </a:xfrm>
          <a:prstGeom prst="rect">
            <a:avLst/>
          </a:prstGeom>
          <a:solidFill>
            <a:srgbClr val="1E293B"/>
          </a:solidFill>
          <a:ln w="12700">
            <a:solidFill>
              <a:srgbClr val="1E293B"/>
            </a:solidFill>
            <a:prstDash val="solid"/>
          </a:ln>
        </p:spPr>
      </p:sp>
      <p:sp>
        <p:nvSpPr>
          <p:cNvPr id="11" name="Text 9"/>
          <p:cNvSpPr/>
          <p:nvPr/>
        </p:nvSpPr>
        <p:spPr>
          <a:xfrm>
            <a:off x="411480" y="1682496"/>
            <a:ext cx="1463040" cy="274320"/>
          </a:xfrm>
          <a:prstGeom prst="rect">
            <a:avLst/>
          </a:prstGeom>
          <a:noFill/>
          <a:ln/>
        </p:spPr>
        <p:txBody>
          <a:bodyPr wrap="square" rtlCol="0" anchor="ctr"/>
          <a:lstStyle/>
          <a:p>
            <a:pPr indent="0" marL="0">
              <a:buNone/>
            </a:pPr>
            <a:r>
              <a:rPr lang="en-US" sz="1050" b="1" dirty="0">
                <a:solidFill>
                  <a:srgbClr val="38BDF8"/>
                </a:solidFill>
                <a:latin typeface="Arial" pitchFamily="34" charset="0"/>
                <a:ea typeface="Arial" pitchFamily="34" charset="-122"/>
                <a:cs typeface="Arial" pitchFamily="34" charset="-120"/>
              </a:rPr>
              <a:t>Backend:</a:t>
            </a:r>
            <a:endParaRPr lang="en-US" sz="1050" dirty="0"/>
          </a:p>
        </p:txBody>
      </p:sp>
      <p:sp>
        <p:nvSpPr>
          <p:cNvPr id="12" name="Text 10"/>
          <p:cNvSpPr/>
          <p:nvPr/>
        </p:nvSpPr>
        <p:spPr>
          <a:xfrm>
            <a:off x="1920240" y="1682496"/>
            <a:ext cx="3474720" cy="274320"/>
          </a:xfrm>
          <a:prstGeom prst="rect">
            <a:avLst/>
          </a:prstGeom>
          <a:noFill/>
          <a:ln/>
        </p:spPr>
        <p:txBody>
          <a:bodyPr wrap="square" rtlCol="0" anchor="ctr"/>
          <a:lstStyle/>
          <a:p>
            <a:pPr indent="0" marL="0">
              <a:buNone/>
            </a:pPr>
            <a:r>
              <a:rPr lang="en-US" sz="1050" dirty="0">
                <a:solidFill>
                  <a:srgbClr val="E2E8F0"/>
                </a:solidFill>
                <a:latin typeface="Arial" pitchFamily="34" charset="0"/>
                <a:ea typeface="Arial" pitchFamily="34" charset="-122"/>
                <a:cs typeface="Arial" pitchFamily="34" charset="-120"/>
              </a:rPr>
              <a:t>FastAPI + Uvicorn (Python)</a:t>
            </a:r>
            <a:endParaRPr lang="en-US" sz="1050" dirty="0"/>
          </a:p>
        </p:txBody>
      </p:sp>
      <p:sp>
        <p:nvSpPr>
          <p:cNvPr id="13" name="Shape 11"/>
          <p:cNvSpPr/>
          <p:nvPr/>
        </p:nvSpPr>
        <p:spPr>
          <a:xfrm>
            <a:off x="320040" y="1975104"/>
            <a:ext cx="5212080" cy="274320"/>
          </a:xfrm>
          <a:prstGeom prst="rect">
            <a:avLst/>
          </a:prstGeom>
          <a:solidFill>
            <a:srgbClr val="1A2744"/>
          </a:solidFill>
          <a:ln w="12700">
            <a:solidFill>
              <a:srgbClr val="1E293B"/>
            </a:solidFill>
            <a:prstDash val="solid"/>
          </a:ln>
        </p:spPr>
      </p:sp>
      <p:sp>
        <p:nvSpPr>
          <p:cNvPr id="14" name="Text 12"/>
          <p:cNvSpPr/>
          <p:nvPr/>
        </p:nvSpPr>
        <p:spPr>
          <a:xfrm>
            <a:off x="411480" y="1975104"/>
            <a:ext cx="1463040" cy="274320"/>
          </a:xfrm>
          <a:prstGeom prst="rect">
            <a:avLst/>
          </a:prstGeom>
          <a:noFill/>
          <a:ln/>
        </p:spPr>
        <p:txBody>
          <a:bodyPr wrap="square" rtlCol="0" anchor="ctr"/>
          <a:lstStyle/>
          <a:p>
            <a:pPr indent="0" marL="0">
              <a:buNone/>
            </a:pPr>
            <a:r>
              <a:rPr lang="en-US" sz="1050" b="1" dirty="0">
                <a:solidFill>
                  <a:srgbClr val="38BDF8"/>
                </a:solidFill>
                <a:latin typeface="Arial" pitchFamily="34" charset="0"/>
                <a:ea typeface="Arial" pitchFamily="34" charset="-122"/>
                <a:cs typeface="Arial" pitchFamily="34" charset="-120"/>
              </a:rPr>
              <a:t>Database:</a:t>
            </a:r>
            <a:endParaRPr lang="en-US" sz="1050" dirty="0"/>
          </a:p>
        </p:txBody>
      </p:sp>
      <p:sp>
        <p:nvSpPr>
          <p:cNvPr id="15" name="Text 13"/>
          <p:cNvSpPr/>
          <p:nvPr/>
        </p:nvSpPr>
        <p:spPr>
          <a:xfrm>
            <a:off x="1920240" y="1975104"/>
            <a:ext cx="3474720" cy="274320"/>
          </a:xfrm>
          <a:prstGeom prst="rect">
            <a:avLst/>
          </a:prstGeom>
          <a:noFill/>
          <a:ln/>
        </p:spPr>
        <p:txBody>
          <a:bodyPr wrap="square" rtlCol="0" anchor="ctr"/>
          <a:lstStyle/>
          <a:p>
            <a:pPr indent="0" marL="0">
              <a:buNone/>
            </a:pPr>
            <a:r>
              <a:rPr lang="en-US" sz="1050" dirty="0">
                <a:solidFill>
                  <a:srgbClr val="E2E8F0"/>
                </a:solidFill>
                <a:latin typeface="Arial" pitchFamily="34" charset="0"/>
                <a:ea typeface="Arial" pitchFamily="34" charset="-122"/>
                <a:cs typeface="Arial" pitchFamily="34" charset="-120"/>
              </a:rPr>
              <a:t>SQLite (persistent storage)</a:t>
            </a:r>
            <a:endParaRPr lang="en-US" sz="1050" dirty="0"/>
          </a:p>
        </p:txBody>
      </p:sp>
      <p:sp>
        <p:nvSpPr>
          <p:cNvPr id="16" name="Shape 14"/>
          <p:cNvSpPr/>
          <p:nvPr/>
        </p:nvSpPr>
        <p:spPr>
          <a:xfrm>
            <a:off x="320040" y="2267712"/>
            <a:ext cx="5212080" cy="274320"/>
          </a:xfrm>
          <a:prstGeom prst="rect">
            <a:avLst/>
          </a:prstGeom>
          <a:solidFill>
            <a:srgbClr val="1E293B"/>
          </a:solidFill>
          <a:ln w="12700">
            <a:solidFill>
              <a:srgbClr val="1E293B"/>
            </a:solidFill>
            <a:prstDash val="solid"/>
          </a:ln>
        </p:spPr>
      </p:sp>
      <p:sp>
        <p:nvSpPr>
          <p:cNvPr id="17" name="Text 15"/>
          <p:cNvSpPr/>
          <p:nvPr/>
        </p:nvSpPr>
        <p:spPr>
          <a:xfrm>
            <a:off x="411480" y="2267712"/>
            <a:ext cx="1463040" cy="274320"/>
          </a:xfrm>
          <a:prstGeom prst="rect">
            <a:avLst/>
          </a:prstGeom>
          <a:noFill/>
          <a:ln/>
        </p:spPr>
        <p:txBody>
          <a:bodyPr wrap="square" rtlCol="0" anchor="ctr"/>
          <a:lstStyle/>
          <a:p>
            <a:pPr indent="0" marL="0">
              <a:buNone/>
            </a:pPr>
            <a:r>
              <a:rPr lang="en-US" sz="1050" b="1" dirty="0">
                <a:solidFill>
                  <a:srgbClr val="38BDF8"/>
                </a:solidFill>
                <a:latin typeface="Arial" pitchFamily="34" charset="0"/>
                <a:ea typeface="Arial" pitchFamily="34" charset="-122"/>
                <a:cs typeface="Arial" pitchFamily="34" charset="-120"/>
              </a:rPr>
              <a:t>ML Model:</a:t>
            </a:r>
            <a:endParaRPr lang="en-US" sz="1050" dirty="0"/>
          </a:p>
        </p:txBody>
      </p:sp>
      <p:sp>
        <p:nvSpPr>
          <p:cNvPr id="18" name="Text 16"/>
          <p:cNvSpPr/>
          <p:nvPr/>
        </p:nvSpPr>
        <p:spPr>
          <a:xfrm>
            <a:off x="1920240" y="2267712"/>
            <a:ext cx="3474720" cy="274320"/>
          </a:xfrm>
          <a:prstGeom prst="rect">
            <a:avLst/>
          </a:prstGeom>
          <a:noFill/>
          <a:ln/>
        </p:spPr>
        <p:txBody>
          <a:bodyPr wrap="square" rtlCol="0" anchor="ctr"/>
          <a:lstStyle/>
          <a:p>
            <a:pPr indent="0" marL="0">
              <a:buNone/>
            </a:pPr>
            <a:r>
              <a:rPr lang="en-US" sz="1050" dirty="0">
                <a:solidFill>
                  <a:srgbClr val="E2E8F0"/>
                </a:solidFill>
                <a:latin typeface="Arial" pitchFamily="34" charset="0"/>
                <a:ea typeface="Arial" pitchFamily="34" charset="-122"/>
                <a:cs typeface="Arial" pitchFamily="34" charset="-120"/>
              </a:rPr>
              <a:t>scikit-learn (RandomForest), Pandas, NumPy, Joblib</a:t>
            </a:r>
            <a:endParaRPr lang="en-US" sz="1050" dirty="0"/>
          </a:p>
        </p:txBody>
      </p:sp>
      <p:sp>
        <p:nvSpPr>
          <p:cNvPr id="19" name="Shape 17"/>
          <p:cNvSpPr/>
          <p:nvPr/>
        </p:nvSpPr>
        <p:spPr>
          <a:xfrm>
            <a:off x="320040" y="2560320"/>
            <a:ext cx="5212080" cy="274320"/>
          </a:xfrm>
          <a:prstGeom prst="rect">
            <a:avLst/>
          </a:prstGeom>
          <a:solidFill>
            <a:srgbClr val="1A2744"/>
          </a:solidFill>
          <a:ln w="12700">
            <a:solidFill>
              <a:srgbClr val="1E293B"/>
            </a:solidFill>
            <a:prstDash val="solid"/>
          </a:ln>
        </p:spPr>
      </p:sp>
      <p:sp>
        <p:nvSpPr>
          <p:cNvPr id="20" name="Text 18"/>
          <p:cNvSpPr/>
          <p:nvPr/>
        </p:nvSpPr>
        <p:spPr>
          <a:xfrm>
            <a:off x="411480" y="2560320"/>
            <a:ext cx="1463040" cy="274320"/>
          </a:xfrm>
          <a:prstGeom prst="rect">
            <a:avLst/>
          </a:prstGeom>
          <a:noFill/>
          <a:ln/>
        </p:spPr>
        <p:txBody>
          <a:bodyPr wrap="square" rtlCol="0" anchor="ctr"/>
          <a:lstStyle/>
          <a:p>
            <a:pPr indent="0" marL="0">
              <a:buNone/>
            </a:pPr>
            <a:r>
              <a:rPr lang="en-US" sz="1050" b="1" dirty="0">
                <a:solidFill>
                  <a:srgbClr val="38BDF8"/>
                </a:solidFill>
                <a:latin typeface="Arial" pitchFamily="34" charset="0"/>
                <a:ea typeface="Arial" pitchFamily="34" charset="-122"/>
                <a:cs typeface="Arial" pitchFamily="34" charset="-120"/>
              </a:rPr>
              <a:t>AI Assistant:</a:t>
            </a:r>
            <a:endParaRPr lang="en-US" sz="1050" dirty="0"/>
          </a:p>
        </p:txBody>
      </p:sp>
      <p:sp>
        <p:nvSpPr>
          <p:cNvPr id="21" name="Text 19"/>
          <p:cNvSpPr/>
          <p:nvPr/>
        </p:nvSpPr>
        <p:spPr>
          <a:xfrm>
            <a:off x="1920240" y="2560320"/>
            <a:ext cx="3474720" cy="274320"/>
          </a:xfrm>
          <a:prstGeom prst="rect">
            <a:avLst/>
          </a:prstGeom>
          <a:noFill/>
          <a:ln/>
        </p:spPr>
        <p:txBody>
          <a:bodyPr wrap="square" rtlCol="0" anchor="ctr"/>
          <a:lstStyle/>
          <a:p>
            <a:pPr indent="0" marL="0">
              <a:buNone/>
            </a:pPr>
            <a:r>
              <a:rPr lang="en-US" sz="1050" dirty="0">
                <a:solidFill>
                  <a:srgbClr val="E2E8F0"/>
                </a:solidFill>
                <a:latin typeface="Arial" pitchFamily="34" charset="0"/>
                <a:ea typeface="Arial" pitchFamily="34" charset="-122"/>
                <a:cs typeface="Arial" pitchFamily="34" charset="-120"/>
              </a:rPr>
              <a:t>Groq API — LLaMA 3.1 8B Instant</a:t>
            </a:r>
            <a:endParaRPr lang="en-US" sz="1050" dirty="0"/>
          </a:p>
        </p:txBody>
      </p:sp>
      <p:sp>
        <p:nvSpPr>
          <p:cNvPr id="22" name="Shape 20"/>
          <p:cNvSpPr/>
          <p:nvPr/>
        </p:nvSpPr>
        <p:spPr>
          <a:xfrm>
            <a:off x="320040" y="2852928"/>
            <a:ext cx="5212080" cy="274320"/>
          </a:xfrm>
          <a:prstGeom prst="rect">
            <a:avLst/>
          </a:prstGeom>
          <a:solidFill>
            <a:srgbClr val="1E293B"/>
          </a:solidFill>
          <a:ln w="12700">
            <a:solidFill>
              <a:srgbClr val="1E293B"/>
            </a:solidFill>
            <a:prstDash val="solid"/>
          </a:ln>
        </p:spPr>
      </p:sp>
      <p:sp>
        <p:nvSpPr>
          <p:cNvPr id="23" name="Text 21"/>
          <p:cNvSpPr/>
          <p:nvPr/>
        </p:nvSpPr>
        <p:spPr>
          <a:xfrm>
            <a:off x="411480" y="2852928"/>
            <a:ext cx="1463040" cy="274320"/>
          </a:xfrm>
          <a:prstGeom prst="rect">
            <a:avLst/>
          </a:prstGeom>
          <a:noFill/>
          <a:ln/>
        </p:spPr>
        <p:txBody>
          <a:bodyPr wrap="square" rtlCol="0" anchor="ctr"/>
          <a:lstStyle/>
          <a:p>
            <a:pPr indent="0" marL="0">
              <a:buNone/>
            </a:pPr>
            <a:r>
              <a:rPr lang="en-US" sz="1050" b="1" dirty="0">
                <a:solidFill>
                  <a:srgbClr val="38BDF8"/>
                </a:solidFill>
                <a:latin typeface="Arial" pitchFamily="34" charset="0"/>
                <a:ea typeface="Arial" pitchFamily="34" charset="-122"/>
                <a:cs typeface="Arial" pitchFamily="34" charset="-120"/>
              </a:rPr>
              <a:t>Authentication:</a:t>
            </a:r>
            <a:endParaRPr lang="en-US" sz="1050" dirty="0"/>
          </a:p>
        </p:txBody>
      </p:sp>
      <p:sp>
        <p:nvSpPr>
          <p:cNvPr id="24" name="Text 22"/>
          <p:cNvSpPr/>
          <p:nvPr/>
        </p:nvSpPr>
        <p:spPr>
          <a:xfrm>
            <a:off x="1920240" y="2852928"/>
            <a:ext cx="3474720" cy="274320"/>
          </a:xfrm>
          <a:prstGeom prst="rect">
            <a:avLst/>
          </a:prstGeom>
          <a:noFill/>
          <a:ln/>
        </p:spPr>
        <p:txBody>
          <a:bodyPr wrap="square" rtlCol="0" anchor="ctr"/>
          <a:lstStyle/>
          <a:p>
            <a:pPr indent="0" marL="0">
              <a:buNone/>
            </a:pPr>
            <a:r>
              <a:rPr lang="en-US" sz="1050" dirty="0">
                <a:solidFill>
                  <a:srgbClr val="E2E8F0"/>
                </a:solidFill>
                <a:latin typeface="Arial" pitchFamily="34" charset="0"/>
                <a:ea typeface="Arial" pitchFamily="34" charset="-122"/>
                <a:cs typeface="Arial" pitchFamily="34" charset="-120"/>
              </a:rPr>
              <a:t>SHA-256 Hashing + Token Sessions</a:t>
            </a:r>
            <a:endParaRPr lang="en-US" sz="1050" dirty="0"/>
          </a:p>
        </p:txBody>
      </p:sp>
      <p:sp>
        <p:nvSpPr>
          <p:cNvPr id="25" name="Shape 23"/>
          <p:cNvSpPr/>
          <p:nvPr/>
        </p:nvSpPr>
        <p:spPr>
          <a:xfrm>
            <a:off x="320040" y="3145536"/>
            <a:ext cx="5212080" cy="274320"/>
          </a:xfrm>
          <a:prstGeom prst="rect">
            <a:avLst/>
          </a:prstGeom>
          <a:solidFill>
            <a:srgbClr val="1A2744"/>
          </a:solidFill>
          <a:ln w="12700">
            <a:solidFill>
              <a:srgbClr val="1E293B"/>
            </a:solidFill>
            <a:prstDash val="solid"/>
          </a:ln>
        </p:spPr>
      </p:sp>
      <p:sp>
        <p:nvSpPr>
          <p:cNvPr id="26" name="Text 24"/>
          <p:cNvSpPr/>
          <p:nvPr/>
        </p:nvSpPr>
        <p:spPr>
          <a:xfrm>
            <a:off x="411480" y="3145536"/>
            <a:ext cx="1463040" cy="274320"/>
          </a:xfrm>
          <a:prstGeom prst="rect">
            <a:avLst/>
          </a:prstGeom>
          <a:noFill/>
          <a:ln/>
        </p:spPr>
        <p:txBody>
          <a:bodyPr wrap="square" rtlCol="0" anchor="ctr"/>
          <a:lstStyle/>
          <a:p>
            <a:pPr indent="0" marL="0">
              <a:buNone/>
            </a:pPr>
            <a:r>
              <a:rPr lang="en-US" sz="1050" b="1" dirty="0">
                <a:solidFill>
                  <a:srgbClr val="38BDF8"/>
                </a:solidFill>
                <a:latin typeface="Arial" pitchFamily="34" charset="0"/>
                <a:ea typeface="Arial" pitchFamily="34" charset="-122"/>
                <a:cs typeface="Arial" pitchFamily="34" charset="-120"/>
              </a:rPr>
              <a:t>Environment:</a:t>
            </a:r>
            <a:endParaRPr lang="en-US" sz="1050" dirty="0"/>
          </a:p>
        </p:txBody>
      </p:sp>
      <p:sp>
        <p:nvSpPr>
          <p:cNvPr id="27" name="Text 25"/>
          <p:cNvSpPr/>
          <p:nvPr/>
        </p:nvSpPr>
        <p:spPr>
          <a:xfrm>
            <a:off x="1920240" y="3145536"/>
            <a:ext cx="3474720" cy="274320"/>
          </a:xfrm>
          <a:prstGeom prst="rect">
            <a:avLst/>
          </a:prstGeom>
          <a:noFill/>
          <a:ln/>
        </p:spPr>
        <p:txBody>
          <a:bodyPr wrap="square" rtlCol="0" anchor="ctr"/>
          <a:lstStyle/>
          <a:p>
            <a:pPr indent="0" marL="0">
              <a:buNone/>
            </a:pPr>
            <a:r>
              <a:rPr lang="en-US" sz="1050" dirty="0">
                <a:solidFill>
                  <a:srgbClr val="E2E8F0"/>
                </a:solidFill>
                <a:latin typeface="Arial" pitchFamily="34" charset="0"/>
                <a:ea typeface="Arial" pitchFamily="34" charset="-122"/>
                <a:cs typeface="Arial" pitchFamily="34" charset="-120"/>
              </a:rPr>
              <a:t>python-dotenv (API key management)</a:t>
            </a:r>
            <a:endParaRPr lang="en-US" sz="1050" dirty="0"/>
          </a:p>
        </p:txBody>
      </p:sp>
      <p:sp>
        <p:nvSpPr>
          <p:cNvPr id="28" name="Shape 26"/>
          <p:cNvSpPr/>
          <p:nvPr/>
        </p:nvSpPr>
        <p:spPr>
          <a:xfrm>
            <a:off x="320040" y="3438144"/>
            <a:ext cx="5212080" cy="274320"/>
          </a:xfrm>
          <a:prstGeom prst="rect">
            <a:avLst/>
          </a:prstGeom>
          <a:solidFill>
            <a:srgbClr val="1E293B"/>
          </a:solidFill>
          <a:ln w="12700">
            <a:solidFill>
              <a:srgbClr val="1E293B"/>
            </a:solidFill>
            <a:prstDash val="solid"/>
          </a:ln>
        </p:spPr>
      </p:sp>
      <p:sp>
        <p:nvSpPr>
          <p:cNvPr id="29" name="Text 27"/>
          <p:cNvSpPr/>
          <p:nvPr/>
        </p:nvSpPr>
        <p:spPr>
          <a:xfrm>
            <a:off x="411480" y="3438144"/>
            <a:ext cx="1463040" cy="274320"/>
          </a:xfrm>
          <a:prstGeom prst="rect">
            <a:avLst/>
          </a:prstGeom>
          <a:noFill/>
          <a:ln/>
        </p:spPr>
        <p:txBody>
          <a:bodyPr wrap="square" rtlCol="0" anchor="ctr"/>
          <a:lstStyle/>
          <a:p>
            <a:pPr indent="0" marL="0">
              <a:buNone/>
            </a:pPr>
            <a:r>
              <a:rPr lang="en-US" sz="1050" b="1" dirty="0">
                <a:solidFill>
                  <a:srgbClr val="38BDF8"/>
                </a:solidFill>
                <a:latin typeface="Arial" pitchFamily="34" charset="0"/>
                <a:ea typeface="Arial" pitchFamily="34" charset="-122"/>
                <a:cs typeface="Arial" pitchFamily="34" charset="-120"/>
              </a:rPr>
              <a:t>Version Control:</a:t>
            </a:r>
            <a:endParaRPr lang="en-US" sz="1050" dirty="0"/>
          </a:p>
        </p:txBody>
      </p:sp>
      <p:sp>
        <p:nvSpPr>
          <p:cNvPr id="30" name="Text 28"/>
          <p:cNvSpPr/>
          <p:nvPr/>
        </p:nvSpPr>
        <p:spPr>
          <a:xfrm>
            <a:off x="1920240" y="3438144"/>
            <a:ext cx="3474720" cy="274320"/>
          </a:xfrm>
          <a:prstGeom prst="rect">
            <a:avLst/>
          </a:prstGeom>
          <a:noFill/>
          <a:ln/>
        </p:spPr>
        <p:txBody>
          <a:bodyPr wrap="square" rtlCol="0" anchor="ctr"/>
          <a:lstStyle/>
          <a:p>
            <a:pPr indent="0" marL="0">
              <a:buNone/>
            </a:pPr>
            <a:r>
              <a:rPr lang="en-US" sz="1050" dirty="0">
                <a:solidFill>
                  <a:srgbClr val="E2E8F0"/>
                </a:solidFill>
                <a:latin typeface="Arial" pitchFamily="34" charset="0"/>
                <a:ea typeface="Arial" pitchFamily="34" charset="-122"/>
                <a:cs typeface="Arial" pitchFamily="34" charset="-120"/>
              </a:rPr>
              <a:t>Git + GitHub</a:t>
            </a:r>
            <a:endParaRPr lang="en-US" sz="1050" dirty="0"/>
          </a:p>
        </p:txBody>
      </p:sp>
      <p:sp>
        <p:nvSpPr>
          <p:cNvPr id="31" name="Shape 29"/>
          <p:cNvSpPr/>
          <p:nvPr/>
        </p:nvSpPr>
        <p:spPr>
          <a:xfrm>
            <a:off x="320040" y="3730752"/>
            <a:ext cx="5212080" cy="274320"/>
          </a:xfrm>
          <a:prstGeom prst="rect">
            <a:avLst/>
          </a:prstGeom>
          <a:solidFill>
            <a:srgbClr val="1A2744"/>
          </a:solidFill>
          <a:ln w="12700">
            <a:solidFill>
              <a:srgbClr val="1E293B"/>
            </a:solidFill>
            <a:prstDash val="solid"/>
          </a:ln>
        </p:spPr>
      </p:sp>
      <p:sp>
        <p:nvSpPr>
          <p:cNvPr id="32" name="Text 30"/>
          <p:cNvSpPr/>
          <p:nvPr/>
        </p:nvSpPr>
        <p:spPr>
          <a:xfrm>
            <a:off x="411480" y="3730752"/>
            <a:ext cx="1463040" cy="274320"/>
          </a:xfrm>
          <a:prstGeom prst="rect">
            <a:avLst/>
          </a:prstGeom>
          <a:noFill/>
          <a:ln/>
        </p:spPr>
        <p:txBody>
          <a:bodyPr wrap="square" rtlCol="0" anchor="ctr"/>
          <a:lstStyle/>
          <a:p>
            <a:pPr indent="0" marL="0">
              <a:buNone/>
            </a:pPr>
            <a:r>
              <a:rPr lang="en-US" sz="1050" b="1" dirty="0">
                <a:solidFill>
                  <a:srgbClr val="38BDF8"/>
                </a:solidFill>
                <a:latin typeface="Arial" pitchFamily="34" charset="0"/>
                <a:ea typeface="Arial" pitchFamily="34" charset="-122"/>
                <a:cs typeface="Arial" pitchFamily="34" charset="-120"/>
              </a:rPr>
              <a:t>Backend Deploy:</a:t>
            </a:r>
            <a:endParaRPr lang="en-US" sz="1050" dirty="0"/>
          </a:p>
        </p:txBody>
      </p:sp>
      <p:sp>
        <p:nvSpPr>
          <p:cNvPr id="33" name="Text 31"/>
          <p:cNvSpPr/>
          <p:nvPr/>
        </p:nvSpPr>
        <p:spPr>
          <a:xfrm>
            <a:off x="1920240" y="3730752"/>
            <a:ext cx="3474720" cy="274320"/>
          </a:xfrm>
          <a:prstGeom prst="rect">
            <a:avLst/>
          </a:prstGeom>
          <a:noFill/>
          <a:ln/>
        </p:spPr>
        <p:txBody>
          <a:bodyPr wrap="square" rtlCol="0" anchor="ctr"/>
          <a:lstStyle/>
          <a:p>
            <a:pPr indent="0" marL="0">
              <a:buNone/>
            </a:pPr>
            <a:r>
              <a:rPr lang="en-US" sz="1050" dirty="0">
                <a:solidFill>
                  <a:srgbClr val="E2E8F0"/>
                </a:solidFill>
                <a:latin typeface="Arial" pitchFamily="34" charset="0"/>
                <a:ea typeface="Arial" pitchFamily="34" charset="-122"/>
                <a:cs typeface="Arial" pitchFamily="34" charset="-120"/>
              </a:rPr>
              <a:t>Render (Free Tier)</a:t>
            </a:r>
            <a:endParaRPr lang="en-US" sz="1050" dirty="0"/>
          </a:p>
        </p:txBody>
      </p:sp>
      <p:sp>
        <p:nvSpPr>
          <p:cNvPr id="34" name="Shape 32"/>
          <p:cNvSpPr/>
          <p:nvPr/>
        </p:nvSpPr>
        <p:spPr>
          <a:xfrm>
            <a:off x="320040" y="4023360"/>
            <a:ext cx="5212080" cy="274320"/>
          </a:xfrm>
          <a:prstGeom prst="rect">
            <a:avLst/>
          </a:prstGeom>
          <a:solidFill>
            <a:srgbClr val="1E293B"/>
          </a:solidFill>
          <a:ln w="12700">
            <a:solidFill>
              <a:srgbClr val="1E293B"/>
            </a:solidFill>
            <a:prstDash val="solid"/>
          </a:ln>
        </p:spPr>
      </p:sp>
      <p:sp>
        <p:nvSpPr>
          <p:cNvPr id="35" name="Text 33"/>
          <p:cNvSpPr/>
          <p:nvPr/>
        </p:nvSpPr>
        <p:spPr>
          <a:xfrm>
            <a:off x="411480" y="4023360"/>
            <a:ext cx="1463040" cy="274320"/>
          </a:xfrm>
          <a:prstGeom prst="rect">
            <a:avLst/>
          </a:prstGeom>
          <a:noFill/>
          <a:ln/>
        </p:spPr>
        <p:txBody>
          <a:bodyPr wrap="square" rtlCol="0" anchor="ctr"/>
          <a:lstStyle/>
          <a:p>
            <a:pPr indent="0" marL="0">
              <a:buNone/>
            </a:pPr>
            <a:r>
              <a:rPr lang="en-US" sz="1050" b="1" dirty="0">
                <a:solidFill>
                  <a:srgbClr val="38BDF8"/>
                </a:solidFill>
                <a:latin typeface="Arial" pitchFamily="34" charset="0"/>
                <a:ea typeface="Arial" pitchFamily="34" charset="-122"/>
                <a:cs typeface="Arial" pitchFamily="34" charset="-120"/>
              </a:rPr>
              <a:t>Frontend Deploy:</a:t>
            </a:r>
            <a:endParaRPr lang="en-US" sz="1050" dirty="0"/>
          </a:p>
        </p:txBody>
      </p:sp>
      <p:sp>
        <p:nvSpPr>
          <p:cNvPr id="36" name="Text 34"/>
          <p:cNvSpPr/>
          <p:nvPr/>
        </p:nvSpPr>
        <p:spPr>
          <a:xfrm>
            <a:off x="1920240" y="4023360"/>
            <a:ext cx="3474720" cy="274320"/>
          </a:xfrm>
          <a:prstGeom prst="rect">
            <a:avLst/>
          </a:prstGeom>
          <a:noFill/>
          <a:ln/>
        </p:spPr>
        <p:txBody>
          <a:bodyPr wrap="square" rtlCol="0" anchor="ctr"/>
          <a:lstStyle/>
          <a:p>
            <a:pPr indent="0" marL="0">
              <a:buNone/>
            </a:pPr>
            <a:r>
              <a:rPr lang="en-US" sz="1050" dirty="0">
                <a:solidFill>
                  <a:srgbClr val="E2E8F0"/>
                </a:solidFill>
                <a:latin typeface="Arial" pitchFamily="34" charset="0"/>
                <a:ea typeface="Arial" pitchFamily="34" charset="-122"/>
                <a:cs typeface="Arial" pitchFamily="34" charset="-120"/>
              </a:rPr>
              <a:t>Vercel (Free Tier)</a:t>
            </a:r>
            <a:endParaRPr lang="en-US" sz="1050" dirty="0"/>
          </a:p>
        </p:txBody>
      </p:sp>
      <p:sp>
        <p:nvSpPr>
          <p:cNvPr id="37" name="Shape 35"/>
          <p:cNvSpPr/>
          <p:nvPr/>
        </p:nvSpPr>
        <p:spPr>
          <a:xfrm>
            <a:off x="320040" y="4315968"/>
            <a:ext cx="5212080" cy="274320"/>
          </a:xfrm>
          <a:prstGeom prst="rect">
            <a:avLst/>
          </a:prstGeom>
          <a:solidFill>
            <a:srgbClr val="1A2744"/>
          </a:solidFill>
          <a:ln w="12700">
            <a:solidFill>
              <a:srgbClr val="1E293B"/>
            </a:solidFill>
            <a:prstDash val="solid"/>
          </a:ln>
        </p:spPr>
      </p:sp>
      <p:sp>
        <p:nvSpPr>
          <p:cNvPr id="38" name="Text 36"/>
          <p:cNvSpPr/>
          <p:nvPr/>
        </p:nvSpPr>
        <p:spPr>
          <a:xfrm>
            <a:off x="411480" y="4315968"/>
            <a:ext cx="1463040" cy="274320"/>
          </a:xfrm>
          <a:prstGeom prst="rect">
            <a:avLst/>
          </a:prstGeom>
          <a:noFill/>
          <a:ln/>
        </p:spPr>
        <p:txBody>
          <a:bodyPr wrap="square" rtlCol="0" anchor="ctr"/>
          <a:lstStyle/>
          <a:p>
            <a:pPr indent="0" marL="0">
              <a:buNone/>
            </a:pPr>
            <a:r>
              <a:rPr lang="en-US" sz="1050" b="1" dirty="0">
                <a:solidFill>
                  <a:srgbClr val="38BDF8"/>
                </a:solidFill>
                <a:latin typeface="Arial" pitchFamily="34" charset="0"/>
                <a:ea typeface="Arial" pitchFamily="34" charset="-122"/>
                <a:cs typeface="Arial" pitchFamily="34" charset="-120"/>
              </a:rPr>
              <a:t>Code Editor:</a:t>
            </a:r>
            <a:endParaRPr lang="en-US" sz="1050" dirty="0"/>
          </a:p>
        </p:txBody>
      </p:sp>
      <p:sp>
        <p:nvSpPr>
          <p:cNvPr id="39" name="Text 37"/>
          <p:cNvSpPr/>
          <p:nvPr/>
        </p:nvSpPr>
        <p:spPr>
          <a:xfrm>
            <a:off x="1920240" y="4315968"/>
            <a:ext cx="3474720" cy="274320"/>
          </a:xfrm>
          <a:prstGeom prst="rect">
            <a:avLst/>
          </a:prstGeom>
          <a:noFill/>
          <a:ln/>
        </p:spPr>
        <p:txBody>
          <a:bodyPr wrap="square" rtlCol="0" anchor="ctr"/>
          <a:lstStyle/>
          <a:p>
            <a:pPr indent="0" marL="0">
              <a:buNone/>
            </a:pPr>
            <a:r>
              <a:rPr lang="en-US" sz="1050" dirty="0">
                <a:solidFill>
                  <a:srgbClr val="E2E8F0"/>
                </a:solidFill>
                <a:latin typeface="Arial" pitchFamily="34" charset="0"/>
                <a:ea typeface="Arial" pitchFamily="34" charset="-122"/>
                <a:cs typeface="Arial" pitchFamily="34" charset="-120"/>
              </a:rPr>
              <a:t>VS Code</a:t>
            </a:r>
            <a:endParaRPr lang="en-US" sz="1050" dirty="0"/>
          </a:p>
        </p:txBody>
      </p:sp>
      <p:sp>
        <p:nvSpPr>
          <p:cNvPr id="40" name="Shape 38"/>
          <p:cNvSpPr/>
          <p:nvPr/>
        </p:nvSpPr>
        <p:spPr>
          <a:xfrm>
            <a:off x="320040" y="4608576"/>
            <a:ext cx="5212080" cy="274320"/>
          </a:xfrm>
          <a:prstGeom prst="rect">
            <a:avLst/>
          </a:prstGeom>
          <a:solidFill>
            <a:srgbClr val="1E293B"/>
          </a:solidFill>
          <a:ln w="12700">
            <a:solidFill>
              <a:srgbClr val="1E293B"/>
            </a:solidFill>
            <a:prstDash val="solid"/>
          </a:ln>
        </p:spPr>
      </p:sp>
      <p:sp>
        <p:nvSpPr>
          <p:cNvPr id="41" name="Text 39"/>
          <p:cNvSpPr/>
          <p:nvPr/>
        </p:nvSpPr>
        <p:spPr>
          <a:xfrm>
            <a:off x="411480" y="4608576"/>
            <a:ext cx="1463040" cy="274320"/>
          </a:xfrm>
          <a:prstGeom prst="rect">
            <a:avLst/>
          </a:prstGeom>
          <a:noFill/>
          <a:ln/>
        </p:spPr>
        <p:txBody>
          <a:bodyPr wrap="square" rtlCol="0" anchor="ctr"/>
          <a:lstStyle/>
          <a:p>
            <a:pPr indent="0" marL="0">
              <a:buNone/>
            </a:pPr>
            <a:r>
              <a:rPr lang="en-US" sz="1050" b="1" dirty="0">
                <a:solidFill>
                  <a:srgbClr val="38BDF8"/>
                </a:solidFill>
                <a:latin typeface="Arial" pitchFamily="34" charset="0"/>
                <a:ea typeface="Arial" pitchFamily="34" charset="-122"/>
                <a:cs typeface="Arial" pitchFamily="34" charset="-120"/>
              </a:rPr>
              <a:t>OS:</a:t>
            </a:r>
            <a:endParaRPr lang="en-US" sz="1050" dirty="0"/>
          </a:p>
        </p:txBody>
      </p:sp>
      <p:sp>
        <p:nvSpPr>
          <p:cNvPr id="42" name="Text 40"/>
          <p:cNvSpPr/>
          <p:nvPr/>
        </p:nvSpPr>
        <p:spPr>
          <a:xfrm>
            <a:off x="1920240" y="4608576"/>
            <a:ext cx="3474720" cy="274320"/>
          </a:xfrm>
          <a:prstGeom prst="rect">
            <a:avLst/>
          </a:prstGeom>
          <a:noFill/>
          <a:ln/>
        </p:spPr>
        <p:txBody>
          <a:bodyPr wrap="square" rtlCol="0" anchor="ctr"/>
          <a:lstStyle/>
          <a:p>
            <a:pPr indent="0" marL="0">
              <a:buNone/>
            </a:pPr>
            <a:r>
              <a:rPr lang="en-US" sz="1050" dirty="0">
                <a:solidFill>
                  <a:srgbClr val="E2E8F0"/>
                </a:solidFill>
                <a:latin typeface="Arial" pitchFamily="34" charset="0"/>
                <a:ea typeface="Arial" pitchFamily="34" charset="-122"/>
                <a:cs typeface="Arial" pitchFamily="34" charset="-120"/>
              </a:rPr>
              <a:t>Windows 10/11</a:t>
            </a:r>
            <a:endParaRPr lang="en-US" sz="1050" dirty="0"/>
          </a:p>
        </p:txBody>
      </p:sp>
      <p:sp>
        <p:nvSpPr>
          <p:cNvPr id="43" name="Shape 41"/>
          <p:cNvSpPr/>
          <p:nvPr/>
        </p:nvSpPr>
        <p:spPr>
          <a:xfrm>
            <a:off x="5852160" y="914400"/>
            <a:ext cx="2971800" cy="3977640"/>
          </a:xfrm>
          <a:prstGeom prst="roundRect">
            <a:avLst>
              <a:gd name="adj" fmla="val 3077"/>
            </a:avLst>
          </a:prstGeom>
          <a:solidFill>
            <a:srgbClr val="1E293B"/>
          </a:solidFill>
          <a:ln w="12700">
            <a:solidFill>
              <a:srgbClr val="22C55E"/>
            </a:solidFill>
            <a:prstDash val="solid"/>
          </a:ln>
        </p:spPr>
      </p:sp>
      <p:sp>
        <p:nvSpPr>
          <p:cNvPr id="44" name="Text 42"/>
          <p:cNvSpPr/>
          <p:nvPr/>
        </p:nvSpPr>
        <p:spPr>
          <a:xfrm>
            <a:off x="5943600" y="987552"/>
            <a:ext cx="2834640" cy="347472"/>
          </a:xfrm>
          <a:prstGeom prst="rect">
            <a:avLst/>
          </a:prstGeom>
          <a:noFill/>
          <a:ln/>
        </p:spPr>
        <p:txBody>
          <a:bodyPr wrap="square" rtlCol="0" anchor="ctr"/>
          <a:lstStyle/>
          <a:p>
            <a:pPr indent="0" marL="0">
              <a:buNone/>
            </a:pPr>
            <a:r>
              <a:rPr lang="en-US" sz="1200" b="1" dirty="0">
                <a:solidFill>
                  <a:srgbClr val="22C55E"/>
                </a:solidFill>
                <a:latin typeface="Arial" pitchFamily="34" charset="0"/>
                <a:ea typeface="Arial" pitchFamily="34" charset="-122"/>
                <a:cs typeface="Arial" pitchFamily="34" charset="-120"/>
              </a:rPr>
              <a:t>🖥️  Hardware Requirements</a:t>
            </a:r>
            <a:endParaRPr lang="en-US" sz="1200" dirty="0"/>
          </a:p>
        </p:txBody>
      </p:sp>
      <p:sp>
        <p:nvSpPr>
          <p:cNvPr id="45" name="Shape 43"/>
          <p:cNvSpPr/>
          <p:nvPr/>
        </p:nvSpPr>
        <p:spPr>
          <a:xfrm>
            <a:off x="5897880" y="1389888"/>
            <a:ext cx="2880360" cy="512064"/>
          </a:xfrm>
          <a:prstGeom prst="rect">
            <a:avLst/>
          </a:prstGeom>
          <a:solidFill>
            <a:srgbClr val="1A2744"/>
          </a:solidFill>
          <a:ln w="12700">
            <a:solidFill>
              <a:srgbClr val="1E293B"/>
            </a:solidFill>
            <a:prstDash val="solid"/>
          </a:ln>
        </p:spPr>
      </p:sp>
      <p:sp>
        <p:nvSpPr>
          <p:cNvPr id="46" name="Text 44"/>
          <p:cNvSpPr/>
          <p:nvPr/>
        </p:nvSpPr>
        <p:spPr>
          <a:xfrm>
            <a:off x="5989320" y="1389888"/>
            <a:ext cx="2697480" cy="228600"/>
          </a:xfrm>
          <a:prstGeom prst="rect">
            <a:avLst/>
          </a:prstGeom>
          <a:noFill/>
          <a:ln/>
        </p:spPr>
        <p:txBody>
          <a:bodyPr wrap="square" rtlCol="0" anchor="ctr"/>
          <a:lstStyle/>
          <a:p>
            <a:pPr indent="0" marL="0">
              <a:buNone/>
            </a:pPr>
            <a:r>
              <a:rPr lang="en-US" sz="1050" b="1" dirty="0">
                <a:solidFill>
                  <a:srgbClr val="22C55E"/>
                </a:solidFill>
                <a:latin typeface="Arial" pitchFamily="34" charset="0"/>
                <a:ea typeface="Arial" pitchFamily="34" charset="-122"/>
                <a:cs typeface="Arial" pitchFamily="34" charset="-120"/>
              </a:rPr>
              <a:t>Processor:</a:t>
            </a:r>
            <a:endParaRPr lang="en-US" sz="1050" dirty="0"/>
          </a:p>
        </p:txBody>
      </p:sp>
      <p:sp>
        <p:nvSpPr>
          <p:cNvPr id="47" name="Text 45"/>
          <p:cNvSpPr/>
          <p:nvPr/>
        </p:nvSpPr>
        <p:spPr>
          <a:xfrm>
            <a:off x="5989320" y="1618488"/>
            <a:ext cx="2697480" cy="256032"/>
          </a:xfrm>
          <a:prstGeom prst="rect">
            <a:avLst/>
          </a:prstGeom>
          <a:noFill/>
          <a:ln/>
        </p:spPr>
        <p:txBody>
          <a:bodyPr wrap="square" rtlCol="0" anchor="ctr"/>
          <a:lstStyle/>
          <a:p>
            <a:pPr indent="0" marL="0">
              <a:buNone/>
            </a:pPr>
            <a:r>
              <a:rPr lang="en-US" sz="1000" dirty="0">
                <a:solidFill>
                  <a:srgbClr val="E2E8F0"/>
                </a:solidFill>
                <a:latin typeface="Arial" pitchFamily="34" charset="0"/>
                <a:ea typeface="Arial" pitchFamily="34" charset="-122"/>
                <a:cs typeface="Arial" pitchFamily="34" charset="-120"/>
              </a:rPr>
              <a:t>Intel Core i3 or above</a:t>
            </a:r>
            <a:endParaRPr lang="en-US" sz="1000" dirty="0"/>
          </a:p>
        </p:txBody>
      </p:sp>
      <p:sp>
        <p:nvSpPr>
          <p:cNvPr id="48" name="Shape 46"/>
          <p:cNvSpPr/>
          <p:nvPr/>
        </p:nvSpPr>
        <p:spPr>
          <a:xfrm>
            <a:off x="5897880" y="1920240"/>
            <a:ext cx="2880360" cy="512064"/>
          </a:xfrm>
          <a:prstGeom prst="rect">
            <a:avLst/>
          </a:prstGeom>
          <a:solidFill>
            <a:srgbClr val="1E293B"/>
          </a:solidFill>
          <a:ln w="12700">
            <a:solidFill>
              <a:srgbClr val="1E293B"/>
            </a:solidFill>
            <a:prstDash val="solid"/>
          </a:ln>
        </p:spPr>
      </p:sp>
      <p:sp>
        <p:nvSpPr>
          <p:cNvPr id="49" name="Text 47"/>
          <p:cNvSpPr/>
          <p:nvPr/>
        </p:nvSpPr>
        <p:spPr>
          <a:xfrm>
            <a:off x="5989320" y="1920240"/>
            <a:ext cx="2697480" cy="228600"/>
          </a:xfrm>
          <a:prstGeom prst="rect">
            <a:avLst/>
          </a:prstGeom>
          <a:noFill/>
          <a:ln/>
        </p:spPr>
        <p:txBody>
          <a:bodyPr wrap="square" rtlCol="0" anchor="ctr"/>
          <a:lstStyle/>
          <a:p>
            <a:pPr indent="0" marL="0">
              <a:buNone/>
            </a:pPr>
            <a:r>
              <a:rPr lang="en-US" sz="1050" b="1" dirty="0">
                <a:solidFill>
                  <a:srgbClr val="22C55E"/>
                </a:solidFill>
                <a:latin typeface="Arial" pitchFamily="34" charset="0"/>
                <a:ea typeface="Arial" pitchFamily="34" charset="-122"/>
                <a:cs typeface="Arial" pitchFamily="34" charset="-120"/>
              </a:rPr>
              <a:t>RAM:</a:t>
            </a:r>
            <a:endParaRPr lang="en-US" sz="1050" dirty="0"/>
          </a:p>
        </p:txBody>
      </p:sp>
      <p:sp>
        <p:nvSpPr>
          <p:cNvPr id="50" name="Text 48"/>
          <p:cNvSpPr/>
          <p:nvPr/>
        </p:nvSpPr>
        <p:spPr>
          <a:xfrm>
            <a:off x="5989320" y="2148840"/>
            <a:ext cx="2697480" cy="256032"/>
          </a:xfrm>
          <a:prstGeom prst="rect">
            <a:avLst/>
          </a:prstGeom>
          <a:noFill/>
          <a:ln/>
        </p:spPr>
        <p:txBody>
          <a:bodyPr wrap="square" rtlCol="0" anchor="ctr"/>
          <a:lstStyle/>
          <a:p>
            <a:pPr indent="0" marL="0">
              <a:buNone/>
            </a:pPr>
            <a:r>
              <a:rPr lang="en-US" sz="1000" dirty="0">
                <a:solidFill>
                  <a:srgbClr val="E2E8F0"/>
                </a:solidFill>
                <a:latin typeface="Arial" pitchFamily="34" charset="0"/>
                <a:ea typeface="Arial" pitchFamily="34" charset="-122"/>
                <a:cs typeface="Arial" pitchFamily="34" charset="-120"/>
              </a:rPr>
              <a:t>4 GB minimum (8 GB recommended)</a:t>
            </a:r>
            <a:endParaRPr lang="en-US" sz="1000" dirty="0"/>
          </a:p>
        </p:txBody>
      </p:sp>
      <p:sp>
        <p:nvSpPr>
          <p:cNvPr id="51" name="Shape 49"/>
          <p:cNvSpPr/>
          <p:nvPr/>
        </p:nvSpPr>
        <p:spPr>
          <a:xfrm>
            <a:off x="5897880" y="2450592"/>
            <a:ext cx="2880360" cy="512064"/>
          </a:xfrm>
          <a:prstGeom prst="rect">
            <a:avLst/>
          </a:prstGeom>
          <a:solidFill>
            <a:srgbClr val="1A2744"/>
          </a:solidFill>
          <a:ln w="12700">
            <a:solidFill>
              <a:srgbClr val="1E293B"/>
            </a:solidFill>
            <a:prstDash val="solid"/>
          </a:ln>
        </p:spPr>
      </p:sp>
      <p:sp>
        <p:nvSpPr>
          <p:cNvPr id="52" name="Text 50"/>
          <p:cNvSpPr/>
          <p:nvPr/>
        </p:nvSpPr>
        <p:spPr>
          <a:xfrm>
            <a:off x="5989320" y="2450592"/>
            <a:ext cx="2697480" cy="228600"/>
          </a:xfrm>
          <a:prstGeom prst="rect">
            <a:avLst/>
          </a:prstGeom>
          <a:noFill/>
          <a:ln/>
        </p:spPr>
        <p:txBody>
          <a:bodyPr wrap="square" rtlCol="0" anchor="ctr"/>
          <a:lstStyle/>
          <a:p>
            <a:pPr indent="0" marL="0">
              <a:buNone/>
            </a:pPr>
            <a:r>
              <a:rPr lang="en-US" sz="1050" b="1" dirty="0">
                <a:solidFill>
                  <a:srgbClr val="22C55E"/>
                </a:solidFill>
                <a:latin typeface="Arial" pitchFamily="34" charset="0"/>
                <a:ea typeface="Arial" pitchFamily="34" charset="-122"/>
                <a:cs typeface="Arial" pitchFamily="34" charset="-120"/>
              </a:rPr>
              <a:t>Storage:</a:t>
            </a:r>
            <a:endParaRPr lang="en-US" sz="1050" dirty="0"/>
          </a:p>
        </p:txBody>
      </p:sp>
      <p:sp>
        <p:nvSpPr>
          <p:cNvPr id="53" name="Text 51"/>
          <p:cNvSpPr/>
          <p:nvPr/>
        </p:nvSpPr>
        <p:spPr>
          <a:xfrm>
            <a:off x="5989320" y="2679192"/>
            <a:ext cx="2697480" cy="256032"/>
          </a:xfrm>
          <a:prstGeom prst="rect">
            <a:avLst/>
          </a:prstGeom>
          <a:noFill/>
          <a:ln/>
        </p:spPr>
        <p:txBody>
          <a:bodyPr wrap="square" rtlCol="0" anchor="ctr"/>
          <a:lstStyle/>
          <a:p>
            <a:pPr indent="0" marL="0">
              <a:buNone/>
            </a:pPr>
            <a:r>
              <a:rPr lang="en-US" sz="1000" dirty="0">
                <a:solidFill>
                  <a:srgbClr val="E2E8F0"/>
                </a:solidFill>
                <a:latin typeface="Arial" pitchFamily="34" charset="0"/>
                <a:ea typeface="Arial" pitchFamily="34" charset="-122"/>
                <a:cs typeface="Arial" pitchFamily="34" charset="-120"/>
              </a:rPr>
              <a:t>10 GB free disk space</a:t>
            </a:r>
            <a:endParaRPr lang="en-US" sz="1000" dirty="0"/>
          </a:p>
        </p:txBody>
      </p:sp>
      <p:sp>
        <p:nvSpPr>
          <p:cNvPr id="54" name="Shape 52"/>
          <p:cNvSpPr/>
          <p:nvPr/>
        </p:nvSpPr>
        <p:spPr>
          <a:xfrm>
            <a:off x="5897880" y="2980944"/>
            <a:ext cx="2880360" cy="512064"/>
          </a:xfrm>
          <a:prstGeom prst="rect">
            <a:avLst/>
          </a:prstGeom>
          <a:solidFill>
            <a:srgbClr val="1E293B"/>
          </a:solidFill>
          <a:ln w="12700">
            <a:solidFill>
              <a:srgbClr val="1E293B"/>
            </a:solidFill>
            <a:prstDash val="solid"/>
          </a:ln>
        </p:spPr>
      </p:sp>
      <p:sp>
        <p:nvSpPr>
          <p:cNvPr id="55" name="Text 53"/>
          <p:cNvSpPr/>
          <p:nvPr/>
        </p:nvSpPr>
        <p:spPr>
          <a:xfrm>
            <a:off x="5989320" y="2980944"/>
            <a:ext cx="2697480" cy="228600"/>
          </a:xfrm>
          <a:prstGeom prst="rect">
            <a:avLst/>
          </a:prstGeom>
          <a:noFill/>
          <a:ln/>
        </p:spPr>
        <p:txBody>
          <a:bodyPr wrap="square" rtlCol="0" anchor="ctr"/>
          <a:lstStyle/>
          <a:p>
            <a:pPr indent="0" marL="0">
              <a:buNone/>
            </a:pPr>
            <a:r>
              <a:rPr lang="en-US" sz="1050" b="1" dirty="0">
                <a:solidFill>
                  <a:srgbClr val="22C55E"/>
                </a:solidFill>
                <a:latin typeface="Arial" pitchFamily="34" charset="0"/>
                <a:ea typeface="Arial" pitchFamily="34" charset="-122"/>
                <a:cs typeface="Arial" pitchFamily="34" charset="-120"/>
              </a:rPr>
              <a:t>Internet:</a:t>
            </a:r>
            <a:endParaRPr lang="en-US" sz="1050" dirty="0"/>
          </a:p>
        </p:txBody>
      </p:sp>
      <p:sp>
        <p:nvSpPr>
          <p:cNvPr id="56" name="Text 54"/>
          <p:cNvSpPr/>
          <p:nvPr/>
        </p:nvSpPr>
        <p:spPr>
          <a:xfrm>
            <a:off x="5989320" y="3209544"/>
            <a:ext cx="2697480" cy="256032"/>
          </a:xfrm>
          <a:prstGeom prst="rect">
            <a:avLst/>
          </a:prstGeom>
          <a:noFill/>
          <a:ln/>
        </p:spPr>
        <p:txBody>
          <a:bodyPr wrap="square" rtlCol="0" anchor="ctr"/>
          <a:lstStyle/>
          <a:p>
            <a:pPr indent="0" marL="0">
              <a:buNone/>
            </a:pPr>
            <a:r>
              <a:rPr lang="en-US" sz="1000" dirty="0">
                <a:solidFill>
                  <a:srgbClr val="E2E8F0"/>
                </a:solidFill>
                <a:latin typeface="Arial" pitchFamily="34" charset="0"/>
                <a:ea typeface="Arial" pitchFamily="34" charset="-122"/>
                <a:cs typeface="Arial" pitchFamily="34" charset="-120"/>
              </a:rPr>
              <a:t>Required for API and deployment</a:t>
            </a:r>
            <a:endParaRPr lang="en-US" sz="1000" dirty="0"/>
          </a:p>
        </p:txBody>
      </p:sp>
      <p:sp>
        <p:nvSpPr>
          <p:cNvPr id="57" name="Shape 55"/>
          <p:cNvSpPr/>
          <p:nvPr/>
        </p:nvSpPr>
        <p:spPr>
          <a:xfrm>
            <a:off x="5897880" y="3511296"/>
            <a:ext cx="2880360" cy="512064"/>
          </a:xfrm>
          <a:prstGeom prst="rect">
            <a:avLst/>
          </a:prstGeom>
          <a:solidFill>
            <a:srgbClr val="1A2744"/>
          </a:solidFill>
          <a:ln w="12700">
            <a:solidFill>
              <a:srgbClr val="1E293B"/>
            </a:solidFill>
            <a:prstDash val="solid"/>
          </a:ln>
        </p:spPr>
      </p:sp>
      <p:sp>
        <p:nvSpPr>
          <p:cNvPr id="58" name="Text 56"/>
          <p:cNvSpPr/>
          <p:nvPr/>
        </p:nvSpPr>
        <p:spPr>
          <a:xfrm>
            <a:off x="5989320" y="3511296"/>
            <a:ext cx="2697480" cy="228600"/>
          </a:xfrm>
          <a:prstGeom prst="rect">
            <a:avLst/>
          </a:prstGeom>
          <a:noFill/>
          <a:ln/>
        </p:spPr>
        <p:txBody>
          <a:bodyPr wrap="square" rtlCol="0" anchor="ctr"/>
          <a:lstStyle/>
          <a:p>
            <a:pPr indent="0" marL="0">
              <a:buNone/>
            </a:pPr>
            <a:r>
              <a:rPr lang="en-US" sz="1050" b="1" dirty="0">
                <a:solidFill>
                  <a:srgbClr val="22C55E"/>
                </a:solidFill>
                <a:latin typeface="Arial" pitchFamily="34" charset="0"/>
                <a:ea typeface="Arial" pitchFamily="34" charset="-122"/>
                <a:cs typeface="Arial" pitchFamily="34" charset="-120"/>
              </a:rPr>
              <a:t>Browser:</a:t>
            </a:r>
            <a:endParaRPr lang="en-US" sz="1050" dirty="0"/>
          </a:p>
        </p:txBody>
      </p:sp>
      <p:sp>
        <p:nvSpPr>
          <p:cNvPr id="59" name="Text 57"/>
          <p:cNvSpPr/>
          <p:nvPr/>
        </p:nvSpPr>
        <p:spPr>
          <a:xfrm>
            <a:off x="5989320" y="3739896"/>
            <a:ext cx="2697480" cy="256032"/>
          </a:xfrm>
          <a:prstGeom prst="rect">
            <a:avLst/>
          </a:prstGeom>
          <a:noFill/>
          <a:ln/>
        </p:spPr>
        <p:txBody>
          <a:bodyPr wrap="square" rtlCol="0" anchor="ctr"/>
          <a:lstStyle/>
          <a:p>
            <a:pPr indent="0" marL="0">
              <a:buNone/>
            </a:pPr>
            <a:r>
              <a:rPr lang="en-US" sz="1000" dirty="0">
                <a:solidFill>
                  <a:srgbClr val="E2E8F0"/>
                </a:solidFill>
                <a:latin typeface="Arial" pitchFamily="34" charset="0"/>
                <a:ea typeface="Arial" pitchFamily="34" charset="-122"/>
                <a:cs typeface="Arial" pitchFamily="34" charset="-120"/>
              </a:rPr>
              <a:t>Chrome / Edge (latest version)</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4F46E5"/>
          </a:solidFill>
          <a:ln w="12700">
            <a:solidFill>
              <a:srgbClr val="4F46E5"/>
            </a:solidFill>
            <a:prstDash val="solid"/>
          </a:ln>
        </p:spPr>
      </p:sp>
      <p:sp>
        <p:nvSpPr>
          <p:cNvPr id="3" name="Text 1"/>
          <p:cNvSpPr/>
          <p:nvPr/>
        </p:nvSpPr>
        <p:spPr>
          <a:xfrm>
            <a:off x="457200" y="182880"/>
            <a:ext cx="8229600" cy="594360"/>
          </a:xfrm>
          <a:prstGeom prst="rect">
            <a:avLst/>
          </a:prstGeom>
          <a:noFill/>
          <a:ln/>
        </p:spPr>
        <p:txBody>
          <a:bodyPr wrap="square" rtlCol="0" anchor="ctr"/>
          <a:lstStyle/>
          <a:p>
            <a:pPr indent="0" marL="0">
              <a:buNone/>
            </a:pPr>
            <a:r>
              <a:rPr lang="en-US" sz="3200" b="1" dirty="0">
                <a:solidFill>
                  <a:srgbClr val="FFFFFF"/>
                </a:solidFill>
                <a:latin typeface="Arial" pitchFamily="34" charset="0"/>
                <a:ea typeface="Arial" pitchFamily="34" charset="-122"/>
                <a:cs typeface="Arial" pitchFamily="34" charset="-120"/>
              </a:rPr>
              <a:t>System Architecture</a:t>
            </a:r>
            <a:endParaRPr lang="en-US" sz="3200" dirty="0"/>
          </a:p>
        </p:txBody>
      </p:sp>
      <p:sp>
        <p:nvSpPr>
          <p:cNvPr id="4" name="Shape 2"/>
          <p:cNvSpPr/>
          <p:nvPr/>
        </p:nvSpPr>
        <p:spPr>
          <a:xfrm>
            <a:off x="0" y="5056632"/>
            <a:ext cx="9144000" cy="91440"/>
          </a:xfrm>
          <a:prstGeom prst="rect">
            <a:avLst/>
          </a:prstGeom>
          <a:solidFill>
            <a:srgbClr val="4F46E5"/>
          </a:solidFill>
          <a:ln w="12700">
            <a:solidFill>
              <a:srgbClr val="4F46E5"/>
            </a:solidFill>
            <a:prstDash val="solid"/>
          </a:ln>
        </p:spPr>
      </p:sp>
      <p:sp>
        <p:nvSpPr>
          <p:cNvPr id="5" name="Shape 3"/>
          <p:cNvSpPr/>
          <p:nvPr/>
        </p:nvSpPr>
        <p:spPr>
          <a:xfrm>
            <a:off x="274320" y="914400"/>
            <a:ext cx="2743200" cy="3977640"/>
          </a:xfrm>
          <a:prstGeom prst="roundRect">
            <a:avLst>
              <a:gd name="adj" fmla="val 5000"/>
            </a:avLst>
          </a:prstGeom>
          <a:solidFill>
            <a:srgbClr val="1E293B"/>
          </a:solidFill>
          <a:ln w="19050">
            <a:solidFill>
              <a:srgbClr val="38BDF8"/>
            </a:solidFill>
            <a:prstDash val="solid"/>
          </a:ln>
        </p:spPr>
      </p:sp>
      <p:sp>
        <p:nvSpPr>
          <p:cNvPr id="6" name="Text 4"/>
          <p:cNvSpPr/>
          <p:nvPr/>
        </p:nvSpPr>
        <p:spPr>
          <a:xfrm>
            <a:off x="274320" y="1005840"/>
            <a:ext cx="2743200" cy="548640"/>
          </a:xfrm>
          <a:prstGeom prst="rect">
            <a:avLst/>
          </a:prstGeom>
          <a:noFill/>
          <a:ln/>
        </p:spPr>
        <p:txBody>
          <a:bodyPr wrap="square" rtlCol="0" anchor="ctr"/>
          <a:lstStyle/>
          <a:p>
            <a:pPr algn="ctr" indent="0" marL="0">
              <a:buNone/>
            </a:pPr>
            <a:r>
              <a:rPr lang="en-US" sz="2800" dirty="0">
                <a:solidFill>
                  <a:srgbClr val="000000"/>
                </a:solidFill>
              </a:rPr>
              <a:t>⚛️</a:t>
            </a:r>
            <a:endParaRPr lang="en-US" sz="2800" dirty="0"/>
          </a:p>
        </p:txBody>
      </p:sp>
      <p:sp>
        <p:nvSpPr>
          <p:cNvPr id="7" name="Text 5"/>
          <p:cNvSpPr/>
          <p:nvPr/>
        </p:nvSpPr>
        <p:spPr>
          <a:xfrm>
            <a:off x="365760" y="1572768"/>
            <a:ext cx="2560320" cy="347472"/>
          </a:xfrm>
          <a:prstGeom prst="rect">
            <a:avLst/>
          </a:prstGeom>
          <a:noFill/>
          <a:ln/>
        </p:spPr>
        <p:txBody>
          <a:bodyPr wrap="square" rtlCol="0" anchor="ctr"/>
          <a:lstStyle/>
          <a:p>
            <a:pPr algn="ctr" indent="0" marL="0">
              <a:buNone/>
            </a:pPr>
            <a:r>
              <a:rPr lang="en-US" sz="1100" b="1" dirty="0">
                <a:solidFill>
                  <a:srgbClr val="38BDF8"/>
                </a:solidFill>
                <a:latin typeface="Arial" pitchFamily="34" charset="0"/>
                <a:ea typeface="Arial" pitchFamily="34" charset="-122"/>
                <a:cs typeface="Arial" pitchFamily="34" charset="-120"/>
              </a:rPr>
              <a:t>PRESENTATION LAYER</a:t>
            </a:r>
            <a:endParaRPr lang="en-US" sz="1100" dirty="0"/>
          </a:p>
        </p:txBody>
      </p:sp>
      <p:sp>
        <p:nvSpPr>
          <p:cNvPr id="8" name="Text 6"/>
          <p:cNvSpPr/>
          <p:nvPr/>
        </p:nvSpPr>
        <p:spPr>
          <a:xfrm>
            <a:off x="365760" y="1920240"/>
            <a:ext cx="2560320" cy="274320"/>
          </a:xfrm>
          <a:prstGeom prst="rect">
            <a:avLst/>
          </a:prstGeom>
          <a:noFill/>
          <a:ln/>
        </p:spPr>
        <p:txBody>
          <a:bodyPr wrap="square" rtlCol="0" anchor="ctr"/>
          <a:lstStyle/>
          <a:p>
            <a:pPr algn="ctr" indent="0" marL="0">
              <a:buNone/>
            </a:pPr>
            <a:r>
              <a:rPr lang="en-US" sz="1000" i="1" dirty="0">
                <a:solidFill>
                  <a:srgbClr val="94A3B8"/>
                </a:solidFill>
                <a:latin typeface="Arial" pitchFamily="34" charset="0"/>
                <a:ea typeface="Arial" pitchFamily="34" charset="-122"/>
                <a:cs typeface="Arial" pitchFamily="34" charset="-120"/>
              </a:rPr>
              <a:t>React 18 + Vite (Vercel)</a:t>
            </a:r>
            <a:endParaRPr lang="en-US" sz="1000" dirty="0"/>
          </a:p>
        </p:txBody>
      </p:sp>
      <p:sp>
        <p:nvSpPr>
          <p:cNvPr id="9" name="Text 7"/>
          <p:cNvSpPr/>
          <p:nvPr/>
        </p:nvSpPr>
        <p:spPr>
          <a:xfrm>
            <a:off x="411480" y="2286000"/>
            <a:ext cx="2468880" cy="365760"/>
          </a:xfrm>
          <a:prstGeom prst="rect">
            <a:avLst/>
          </a:prstGeom>
          <a:noFill/>
          <a:ln/>
        </p:spPr>
        <p:txBody>
          <a:bodyPr wrap="square" rtlCol="0" anchor="ctr"/>
          <a:lstStyle/>
          <a:p>
            <a:pPr indent="0" marL="0">
              <a:buNone/>
            </a:pPr>
            <a:r>
              <a:rPr lang="en-US" sz="1100" dirty="0">
                <a:solidFill>
                  <a:srgbClr val="E2E8F0"/>
                </a:solidFill>
                <a:latin typeface="Arial" pitchFamily="34" charset="0"/>
                <a:ea typeface="Arial" pitchFamily="34" charset="-122"/>
                <a:cs typeface="Arial" pitchFamily="34" charset="-120"/>
              </a:rPr>
              <a:t>• Login / Register Page</a:t>
            </a:r>
            <a:endParaRPr lang="en-US" sz="1100" dirty="0"/>
          </a:p>
        </p:txBody>
      </p:sp>
      <p:sp>
        <p:nvSpPr>
          <p:cNvPr id="10" name="Text 8"/>
          <p:cNvSpPr/>
          <p:nvPr/>
        </p:nvSpPr>
        <p:spPr>
          <a:xfrm>
            <a:off x="411480" y="2688336"/>
            <a:ext cx="2468880" cy="365760"/>
          </a:xfrm>
          <a:prstGeom prst="rect">
            <a:avLst/>
          </a:prstGeom>
          <a:noFill/>
          <a:ln/>
        </p:spPr>
        <p:txBody>
          <a:bodyPr wrap="square" rtlCol="0" anchor="ctr"/>
          <a:lstStyle/>
          <a:p>
            <a:pPr indent="0" marL="0">
              <a:buNone/>
            </a:pPr>
            <a:r>
              <a:rPr lang="en-US" sz="1100" dirty="0">
                <a:solidFill>
                  <a:srgbClr val="E2E8F0"/>
                </a:solidFill>
                <a:latin typeface="Arial" pitchFamily="34" charset="0"/>
                <a:ea typeface="Arial" pitchFamily="34" charset="-122"/>
                <a:cs typeface="Arial" pitchFamily="34" charset="-120"/>
              </a:rPr>
              <a:t>• Financial Dashboard</a:t>
            </a:r>
            <a:endParaRPr lang="en-US" sz="1100" dirty="0"/>
          </a:p>
        </p:txBody>
      </p:sp>
      <p:sp>
        <p:nvSpPr>
          <p:cNvPr id="11" name="Text 9"/>
          <p:cNvSpPr/>
          <p:nvPr/>
        </p:nvSpPr>
        <p:spPr>
          <a:xfrm>
            <a:off x="411480" y="3090672"/>
            <a:ext cx="2468880" cy="365760"/>
          </a:xfrm>
          <a:prstGeom prst="rect">
            <a:avLst/>
          </a:prstGeom>
          <a:noFill/>
          <a:ln/>
        </p:spPr>
        <p:txBody>
          <a:bodyPr wrap="square" rtlCol="0" anchor="ctr"/>
          <a:lstStyle/>
          <a:p>
            <a:pPr indent="0" marL="0">
              <a:buNone/>
            </a:pPr>
            <a:r>
              <a:rPr lang="en-US" sz="1100" dirty="0">
                <a:solidFill>
                  <a:srgbClr val="E2E8F0"/>
                </a:solidFill>
                <a:latin typeface="Arial" pitchFamily="34" charset="0"/>
                <a:ea typeface="Arial" pitchFamily="34" charset="-122"/>
                <a:cs typeface="Arial" pitchFamily="34" charset="-120"/>
              </a:rPr>
              <a:t>• 20+ Feature Pages</a:t>
            </a:r>
            <a:endParaRPr lang="en-US" sz="1100" dirty="0"/>
          </a:p>
        </p:txBody>
      </p:sp>
      <p:sp>
        <p:nvSpPr>
          <p:cNvPr id="12" name="Text 10"/>
          <p:cNvSpPr/>
          <p:nvPr/>
        </p:nvSpPr>
        <p:spPr>
          <a:xfrm>
            <a:off x="411480" y="3493008"/>
            <a:ext cx="2468880" cy="365760"/>
          </a:xfrm>
          <a:prstGeom prst="rect">
            <a:avLst/>
          </a:prstGeom>
          <a:noFill/>
          <a:ln/>
        </p:spPr>
        <p:txBody>
          <a:bodyPr wrap="square" rtlCol="0" anchor="ctr"/>
          <a:lstStyle/>
          <a:p>
            <a:pPr indent="0" marL="0">
              <a:buNone/>
            </a:pPr>
            <a:r>
              <a:rPr lang="en-US" sz="1100" dirty="0">
                <a:solidFill>
                  <a:srgbClr val="E2E8F0"/>
                </a:solidFill>
                <a:latin typeface="Arial" pitchFamily="34" charset="0"/>
                <a:ea typeface="Arial" pitchFamily="34" charset="-122"/>
                <a:cs typeface="Arial" pitchFamily="34" charset="-120"/>
              </a:rPr>
              <a:t>• Recharts Visualizations</a:t>
            </a:r>
            <a:endParaRPr lang="en-US" sz="1100" dirty="0"/>
          </a:p>
        </p:txBody>
      </p:sp>
      <p:sp>
        <p:nvSpPr>
          <p:cNvPr id="13" name="Text 11"/>
          <p:cNvSpPr/>
          <p:nvPr/>
        </p:nvSpPr>
        <p:spPr>
          <a:xfrm>
            <a:off x="3017520" y="2560320"/>
            <a:ext cx="201168" cy="365760"/>
          </a:xfrm>
          <a:prstGeom prst="rect">
            <a:avLst/>
          </a:prstGeom>
          <a:noFill/>
          <a:ln/>
        </p:spPr>
        <p:txBody>
          <a:bodyPr wrap="square" rtlCol="0" anchor="ctr"/>
          <a:lstStyle/>
          <a:p>
            <a:pPr algn="ctr" indent="0" marL="0">
              <a:buNone/>
            </a:pPr>
            <a:r>
              <a:rPr lang="en-US" sz="1800" dirty="0">
                <a:solidFill>
                  <a:srgbClr val="38BDF8"/>
                </a:solidFill>
              </a:rPr>
              <a:t>⟷</a:t>
            </a:r>
            <a:endParaRPr lang="en-US" sz="1800" dirty="0"/>
          </a:p>
        </p:txBody>
      </p:sp>
      <p:sp>
        <p:nvSpPr>
          <p:cNvPr id="14" name="Shape 12"/>
          <p:cNvSpPr/>
          <p:nvPr/>
        </p:nvSpPr>
        <p:spPr>
          <a:xfrm>
            <a:off x="3218688" y="914400"/>
            <a:ext cx="2743200" cy="3977640"/>
          </a:xfrm>
          <a:prstGeom prst="roundRect">
            <a:avLst>
              <a:gd name="adj" fmla="val 5000"/>
            </a:avLst>
          </a:prstGeom>
          <a:solidFill>
            <a:srgbClr val="1E293B"/>
          </a:solidFill>
          <a:ln w="19050">
            <a:solidFill>
              <a:srgbClr val="4F46E5"/>
            </a:solidFill>
            <a:prstDash val="solid"/>
          </a:ln>
        </p:spPr>
      </p:sp>
      <p:sp>
        <p:nvSpPr>
          <p:cNvPr id="15" name="Text 13"/>
          <p:cNvSpPr/>
          <p:nvPr/>
        </p:nvSpPr>
        <p:spPr>
          <a:xfrm>
            <a:off x="3218688" y="1005840"/>
            <a:ext cx="2743200" cy="548640"/>
          </a:xfrm>
          <a:prstGeom prst="rect">
            <a:avLst/>
          </a:prstGeom>
          <a:noFill/>
          <a:ln/>
        </p:spPr>
        <p:txBody>
          <a:bodyPr wrap="square" rtlCol="0" anchor="ctr"/>
          <a:lstStyle/>
          <a:p>
            <a:pPr algn="ctr" indent="0" marL="0">
              <a:buNone/>
            </a:pPr>
            <a:r>
              <a:rPr lang="en-US" sz="2800" dirty="0">
                <a:solidFill>
                  <a:srgbClr val="000000"/>
                </a:solidFill>
              </a:rPr>
              <a:t>⚡</a:t>
            </a:r>
            <a:endParaRPr lang="en-US" sz="2800" dirty="0"/>
          </a:p>
        </p:txBody>
      </p:sp>
      <p:sp>
        <p:nvSpPr>
          <p:cNvPr id="16" name="Text 14"/>
          <p:cNvSpPr/>
          <p:nvPr/>
        </p:nvSpPr>
        <p:spPr>
          <a:xfrm>
            <a:off x="3310128" y="1572768"/>
            <a:ext cx="2560320" cy="347472"/>
          </a:xfrm>
          <a:prstGeom prst="rect">
            <a:avLst/>
          </a:prstGeom>
          <a:noFill/>
          <a:ln/>
        </p:spPr>
        <p:txBody>
          <a:bodyPr wrap="square" rtlCol="0" anchor="ctr"/>
          <a:lstStyle/>
          <a:p>
            <a:pPr algn="ctr" indent="0" marL="0">
              <a:buNone/>
            </a:pPr>
            <a:r>
              <a:rPr lang="en-US" sz="1100" b="1" dirty="0">
                <a:solidFill>
                  <a:srgbClr val="4F46E5"/>
                </a:solidFill>
                <a:latin typeface="Arial" pitchFamily="34" charset="0"/>
                <a:ea typeface="Arial" pitchFamily="34" charset="-122"/>
                <a:cs typeface="Arial" pitchFamily="34" charset="-120"/>
              </a:rPr>
              <a:t>APPLICATION LAYER</a:t>
            </a:r>
            <a:endParaRPr lang="en-US" sz="1100" dirty="0"/>
          </a:p>
        </p:txBody>
      </p:sp>
      <p:sp>
        <p:nvSpPr>
          <p:cNvPr id="17" name="Text 15"/>
          <p:cNvSpPr/>
          <p:nvPr/>
        </p:nvSpPr>
        <p:spPr>
          <a:xfrm>
            <a:off x="3310128" y="1920240"/>
            <a:ext cx="2560320" cy="274320"/>
          </a:xfrm>
          <a:prstGeom prst="rect">
            <a:avLst/>
          </a:prstGeom>
          <a:noFill/>
          <a:ln/>
        </p:spPr>
        <p:txBody>
          <a:bodyPr wrap="square" rtlCol="0" anchor="ctr"/>
          <a:lstStyle/>
          <a:p>
            <a:pPr algn="ctr" indent="0" marL="0">
              <a:buNone/>
            </a:pPr>
            <a:r>
              <a:rPr lang="en-US" sz="1000" i="1" dirty="0">
                <a:solidFill>
                  <a:srgbClr val="94A3B8"/>
                </a:solidFill>
                <a:latin typeface="Arial" pitchFamily="34" charset="0"/>
                <a:ea typeface="Arial" pitchFamily="34" charset="-122"/>
                <a:cs typeface="Arial" pitchFamily="34" charset="-120"/>
              </a:rPr>
              <a:t>FastAPI + Uvicorn (Render)</a:t>
            </a:r>
            <a:endParaRPr lang="en-US" sz="1000" dirty="0"/>
          </a:p>
        </p:txBody>
      </p:sp>
      <p:sp>
        <p:nvSpPr>
          <p:cNvPr id="18" name="Text 16"/>
          <p:cNvSpPr/>
          <p:nvPr/>
        </p:nvSpPr>
        <p:spPr>
          <a:xfrm>
            <a:off x="3355848" y="2286000"/>
            <a:ext cx="2468880" cy="365760"/>
          </a:xfrm>
          <a:prstGeom prst="rect">
            <a:avLst/>
          </a:prstGeom>
          <a:noFill/>
          <a:ln/>
        </p:spPr>
        <p:txBody>
          <a:bodyPr wrap="square" rtlCol="0" anchor="ctr"/>
          <a:lstStyle/>
          <a:p>
            <a:pPr indent="0" marL="0">
              <a:buNone/>
            </a:pPr>
            <a:r>
              <a:rPr lang="en-US" sz="1100" dirty="0">
                <a:solidFill>
                  <a:srgbClr val="E2E8F0"/>
                </a:solidFill>
                <a:latin typeface="Arial" pitchFamily="34" charset="0"/>
                <a:ea typeface="Arial" pitchFamily="34" charset="-122"/>
                <a:cs typeface="Arial" pitchFamily="34" charset="-120"/>
              </a:rPr>
              <a:t>• 27+ REST API Endpoints</a:t>
            </a:r>
            <a:endParaRPr lang="en-US" sz="1100" dirty="0"/>
          </a:p>
        </p:txBody>
      </p:sp>
      <p:sp>
        <p:nvSpPr>
          <p:cNvPr id="19" name="Text 17"/>
          <p:cNvSpPr/>
          <p:nvPr/>
        </p:nvSpPr>
        <p:spPr>
          <a:xfrm>
            <a:off x="3355848" y="2688336"/>
            <a:ext cx="2468880" cy="365760"/>
          </a:xfrm>
          <a:prstGeom prst="rect">
            <a:avLst/>
          </a:prstGeom>
          <a:noFill/>
          <a:ln/>
        </p:spPr>
        <p:txBody>
          <a:bodyPr wrap="square" rtlCol="0" anchor="ctr"/>
          <a:lstStyle/>
          <a:p>
            <a:pPr indent="0" marL="0">
              <a:buNone/>
            </a:pPr>
            <a:r>
              <a:rPr lang="en-US" sz="1100" dirty="0">
                <a:solidFill>
                  <a:srgbClr val="E2E8F0"/>
                </a:solidFill>
                <a:latin typeface="Arial" pitchFamily="34" charset="0"/>
                <a:ea typeface="Arial" pitchFamily="34" charset="-122"/>
                <a:cs typeface="Arial" pitchFamily="34" charset="-120"/>
              </a:rPr>
              <a:t>• JWT Auth + SHA-256</a:t>
            </a:r>
            <a:endParaRPr lang="en-US" sz="1100" dirty="0"/>
          </a:p>
        </p:txBody>
      </p:sp>
      <p:sp>
        <p:nvSpPr>
          <p:cNvPr id="20" name="Text 18"/>
          <p:cNvSpPr/>
          <p:nvPr/>
        </p:nvSpPr>
        <p:spPr>
          <a:xfrm>
            <a:off x="3355848" y="3090672"/>
            <a:ext cx="2468880" cy="365760"/>
          </a:xfrm>
          <a:prstGeom prst="rect">
            <a:avLst/>
          </a:prstGeom>
          <a:noFill/>
          <a:ln/>
        </p:spPr>
        <p:txBody>
          <a:bodyPr wrap="square" rtlCol="0" anchor="ctr"/>
          <a:lstStyle/>
          <a:p>
            <a:pPr indent="0" marL="0">
              <a:buNone/>
            </a:pPr>
            <a:r>
              <a:rPr lang="en-US" sz="1100" dirty="0">
                <a:solidFill>
                  <a:srgbClr val="E2E8F0"/>
                </a:solidFill>
                <a:latin typeface="Arial" pitchFamily="34" charset="0"/>
                <a:ea typeface="Arial" pitchFamily="34" charset="-122"/>
                <a:cs typeface="Arial" pitchFamily="34" charset="-120"/>
              </a:rPr>
              <a:t>• ML Model Integration</a:t>
            </a:r>
            <a:endParaRPr lang="en-US" sz="1100" dirty="0"/>
          </a:p>
        </p:txBody>
      </p:sp>
      <p:sp>
        <p:nvSpPr>
          <p:cNvPr id="21" name="Text 19"/>
          <p:cNvSpPr/>
          <p:nvPr/>
        </p:nvSpPr>
        <p:spPr>
          <a:xfrm>
            <a:off x="3355848" y="3493008"/>
            <a:ext cx="2468880" cy="365760"/>
          </a:xfrm>
          <a:prstGeom prst="rect">
            <a:avLst/>
          </a:prstGeom>
          <a:noFill/>
          <a:ln/>
        </p:spPr>
        <p:txBody>
          <a:bodyPr wrap="square" rtlCol="0" anchor="ctr"/>
          <a:lstStyle/>
          <a:p>
            <a:pPr indent="0" marL="0">
              <a:buNone/>
            </a:pPr>
            <a:r>
              <a:rPr lang="en-US" sz="1100" dirty="0">
                <a:solidFill>
                  <a:srgbClr val="E2E8F0"/>
                </a:solidFill>
                <a:latin typeface="Arial" pitchFamily="34" charset="0"/>
                <a:ea typeface="Arial" pitchFamily="34" charset="-122"/>
                <a:cs typeface="Arial" pitchFamily="34" charset="-120"/>
              </a:rPr>
              <a:t>• Groq AI Assistant</a:t>
            </a:r>
            <a:endParaRPr lang="en-US" sz="1100" dirty="0"/>
          </a:p>
        </p:txBody>
      </p:sp>
      <p:sp>
        <p:nvSpPr>
          <p:cNvPr id="22" name="Text 20"/>
          <p:cNvSpPr/>
          <p:nvPr/>
        </p:nvSpPr>
        <p:spPr>
          <a:xfrm>
            <a:off x="5961888" y="2560320"/>
            <a:ext cx="201168" cy="365760"/>
          </a:xfrm>
          <a:prstGeom prst="rect">
            <a:avLst/>
          </a:prstGeom>
          <a:noFill/>
          <a:ln/>
        </p:spPr>
        <p:txBody>
          <a:bodyPr wrap="square" rtlCol="0" anchor="ctr"/>
          <a:lstStyle/>
          <a:p>
            <a:pPr algn="ctr" indent="0" marL="0">
              <a:buNone/>
            </a:pPr>
            <a:r>
              <a:rPr lang="en-US" sz="1800" dirty="0">
                <a:solidFill>
                  <a:srgbClr val="38BDF8"/>
                </a:solidFill>
              </a:rPr>
              <a:t>⟷</a:t>
            </a:r>
            <a:endParaRPr lang="en-US" sz="1800" dirty="0"/>
          </a:p>
        </p:txBody>
      </p:sp>
      <p:sp>
        <p:nvSpPr>
          <p:cNvPr id="23" name="Shape 21"/>
          <p:cNvSpPr/>
          <p:nvPr/>
        </p:nvSpPr>
        <p:spPr>
          <a:xfrm>
            <a:off x="6163056" y="914400"/>
            <a:ext cx="2743200" cy="3977640"/>
          </a:xfrm>
          <a:prstGeom prst="roundRect">
            <a:avLst>
              <a:gd name="adj" fmla="val 5000"/>
            </a:avLst>
          </a:prstGeom>
          <a:solidFill>
            <a:srgbClr val="1E293B"/>
          </a:solidFill>
          <a:ln w="19050">
            <a:solidFill>
              <a:srgbClr val="22C55E"/>
            </a:solidFill>
            <a:prstDash val="solid"/>
          </a:ln>
        </p:spPr>
      </p:sp>
      <p:sp>
        <p:nvSpPr>
          <p:cNvPr id="24" name="Text 22"/>
          <p:cNvSpPr/>
          <p:nvPr/>
        </p:nvSpPr>
        <p:spPr>
          <a:xfrm>
            <a:off x="6163056" y="1005840"/>
            <a:ext cx="2743200" cy="548640"/>
          </a:xfrm>
          <a:prstGeom prst="rect">
            <a:avLst/>
          </a:prstGeom>
          <a:noFill/>
          <a:ln/>
        </p:spPr>
        <p:txBody>
          <a:bodyPr wrap="square" rtlCol="0" anchor="ctr"/>
          <a:lstStyle/>
          <a:p>
            <a:pPr algn="ctr" indent="0" marL="0">
              <a:buNone/>
            </a:pPr>
            <a:r>
              <a:rPr lang="en-US" sz="2800" dirty="0">
                <a:solidFill>
                  <a:srgbClr val="000000"/>
                </a:solidFill>
              </a:rPr>
              <a:t>🗄️</a:t>
            </a:r>
            <a:endParaRPr lang="en-US" sz="2800" dirty="0"/>
          </a:p>
        </p:txBody>
      </p:sp>
      <p:sp>
        <p:nvSpPr>
          <p:cNvPr id="25" name="Text 23"/>
          <p:cNvSpPr/>
          <p:nvPr/>
        </p:nvSpPr>
        <p:spPr>
          <a:xfrm>
            <a:off x="6254496" y="1572768"/>
            <a:ext cx="2560320" cy="347472"/>
          </a:xfrm>
          <a:prstGeom prst="rect">
            <a:avLst/>
          </a:prstGeom>
          <a:noFill/>
          <a:ln/>
        </p:spPr>
        <p:txBody>
          <a:bodyPr wrap="square" rtlCol="0" anchor="ctr"/>
          <a:lstStyle/>
          <a:p>
            <a:pPr algn="ctr" indent="0" marL="0">
              <a:buNone/>
            </a:pPr>
            <a:r>
              <a:rPr lang="en-US" sz="1100" b="1" dirty="0">
                <a:solidFill>
                  <a:srgbClr val="22C55E"/>
                </a:solidFill>
                <a:latin typeface="Arial" pitchFamily="34" charset="0"/>
                <a:ea typeface="Arial" pitchFamily="34" charset="-122"/>
                <a:cs typeface="Arial" pitchFamily="34" charset="-120"/>
              </a:rPr>
              <a:t>DATA LAYER</a:t>
            </a:r>
            <a:endParaRPr lang="en-US" sz="1100" dirty="0"/>
          </a:p>
        </p:txBody>
      </p:sp>
      <p:sp>
        <p:nvSpPr>
          <p:cNvPr id="26" name="Text 24"/>
          <p:cNvSpPr/>
          <p:nvPr/>
        </p:nvSpPr>
        <p:spPr>
          <a:xfrm>
            <a:off x="6254496" y="1920240"/>
            <a:ext cx="2560320" cy="274320"/>
          </a:xfrm>
          <a:prstGeom prst="rect">
            <a:avLst/>
          </a:prstGeom>
          <a:noFill/>
          <a:ln/>
        </p:spPr>
        <p:txBody>
          <a:bodyPr wrap="square" rtlCol="0" anchor="ctr"/>
          <a:lstStyle/>
          <a:p>
            <a:pPr algn="ctr" indent="0" marL="0">
              <a:buNone/>
            </a:pPr>
            <a:r>
              <a:rPr lang="en-US" sz="1000" i="1" dirty="0">
                <a:solidFill>
                  <a:srgbClr val="94A3B8"/>
                </a:solidFill>
                <a:latin typeface="Arial" pitchFamily="34" charset="0"/>
                <a:ea typeface="Arial" pitchFamily="34" charset="-122"/>
                <a:cs typeface="Arial" pitchFamily="34" charset="-120"/>
              </a:rPr>
              <a:t>SQLite Database</a:t>
            </a:r>
            <a:endParaRPr lang="en-US" sz="1000" dirty="0"/>
          </a:p>
        </p:txBody>
      </p:sp>
      <p:sp>
        <p:nvSpPr>
          <p:cNvPr id="27" name="Text 25"/>
          <p:cNvSpPr/>
          <p:nvPr/>
        </p:nvSpPr>
        <p:spPr>
          <a:xfrm>
            <a:off x="6300216" y="2286000"/>
            <a:ext cx="2468880" cy="365760"/>
          </a:xfrm>
          <a:prstGeom prst="rect">
            <a:avLst/>
          </a:prstGeom>
          <a:noFill/>
          <a:ln/>
        </p:spPr>
        <p:txBody>
          <a:bodyPr wrap="square" rtlCol="0" anchor="ctr"/>
          <a:lstStyle/>
          <a:p>
            <a:pPr indent="0" marL="0">
              <a:buNone/>
            </a:pPr>
            <a:r>
              <a:rPr lang="en-US" sz="1100" dirty="0">
                <a:solidFill>
                  <a:srgbClr val="E2E8F0"/>
                </a:solidFill>
                <a:latin typeface="Arial" pitchFamily="34" charset="0"/>
                <a:ea typeface="Arial" pitchFamily="34" charset="-122"/>
                <a:cs typeface="Arial" pitchFamily="34" charset="-120"/>
              </a:rPr>
              <a:t>• Users &amp; Sessions</a:t>
            </a:r>
            <a:endParaRPr lang="en-US" sz="1100" dirty="0"/>
          </a:p>
        </p:txBody>
      </p:sp>
      <p:sp>
        <p:nvSpPr>
          <p:cNvPr id="28" name="Text 26"/>
          <p:cNvSpPr/>
          <p:nvPr/>
        </p:nvSpPr>
        <p:spPr>
          <a:xfrm>
            <a:off x="6300216" y="2688336"/>
            <a:ext cx="2468880" cy="365760"/>
          </a:xfrm>
          <a:prstGeom prst="rect">
            <a:avLst/>
          </a:prstGeom>
          <a:noFill/>
          <a:ln/>
        </p:spPr>
        <p:txBody>
          <a:bodyPr wrap="square" rtlCol="0" anchor="ctr"/>
          <a:lstStyle/>
          <a:p>
            <a:pPr indent="0" marL="0">
              <a:buNone/>
            </a:pPr>
            <a:r>
              <a:rPr lang="en-US" sz="1100" dirty="0">
                <a:solidFill>
                  <a:srgbClr val="E2E8F0"/>
                </a:solidFill>
                <a:latin typeface="Arial" pitchFamily="34" charset="0"/>
                <a:ea typeface="Arial" pitchFamily="34" charset="-122"/>
                <a:cs typeface="Arial" pitchFamily="34" charset="-120"/>
              </a:rPr>
              <a:t>• Expenses &amp; Income</a:t>
            </a:r>
            <a:endParaRPr lang="en-US" sz="1100" dirty="0"/>
          </a:p>
        </p:txBody>
      </p:sp>
      <p:sp>
        <p:nvSpPr>
          <p:cNvPr id="29" name="Text 27"/>
          <p:cNvSpPr/>
          <p:nvPr/>
        </p:nvSpPr>
        <p:spPr>
          <a:xfrm>
            <a:off x="6300216" y="3090672"/>
            <a:ext cx="2468880" cy="365760"/>
          </a:xfrm>
          <a:prstGeom prst="rect">
            <a:avLst/>
          </a:prstGeom>
          <a:noFill/>
          <a:ln/>
        </p:spPr>
        <p:txBody>
          <a:bodyPr wrap="square" rtlCol="0" anchor="ctr"/>
          <a:lstStyle/>
          <a:p>
            <a:pPr indent="0" marL="0">
              <a:buNone/>
            </a:pPr>
            <a:r>
              <a:rPr lang="en-US" sz="1100" dirty="0">
                <a:solidFill>
                  <a:srgbClr val="E2E8F0"/>
                </a:solidFill>
                <a:latin typeface="Arial" pitchFamily="34" charset="0"/>
                <a:ea typeface="Arial" pitchFamily="34" charset="-122"/>
                <a:cs typeface="Arial" pitchFamily="34" charset="-120"/>
              </a:rPr>
              <a:t>• Goals, Bills, Loans</a:t>
            </a:r>
            <a:endParaRPr lang="en-US" sz="1100" dirty="0"/>
          </a:p>
        </p:txBody>
      </p:sp>
      <p:sp>
        <p:nvSpPr>
          <p:cNvPr id="30" name="Text 28"/>
          <p:cNvSpPr/>
          <p:nvPr/>
        </p:nvSpPr>
        <p:spPr>
          <a:xfrm>
            <a:off x="6300216" y="3493008"/>
            <a:ext cx="2468880" cy="365760"/>
          </a:xfrm>
          <a:prstGeom prst="rect">
            <a:avLst/>
          </a:prstGeom>
          <a:noFill/>
          <a:ln/>
        </p:spPr>
        <p:txBody>
          <a:bodyPr wrap="square" rtlCol="0" anchor="ctr"/>
          <a:lstStyle/>
          <a:p>
            <a:pPr indent="0" marL="0">
              <a:buNone/>
            </a:pPr>
            <a:r>
              <a:rPr lang="en-US" sz="1100" dirty="0">
                <a:solidFill>
                  <a:srgbClr val="E2E8F0"/>
                </a:solidFill>
                <a:latin typeface="Arial" pitchFamily="34" charset="0"/>
                <a:ea typeface="Arial" pitchFamily="34" charset="-122"/>
                <a:cs typeface="Arial" pitchFamily="34" charset="-120"/>
              </a:rPr>
              <a:t>• Assets &amp; Liabilities</a:t>
            </a:r>
            <a:endParaRPr lang="en-US" sz="1100" dirty="0"/>
          </a:p>
        </p:txBody>
      </p:sp>
      <p:sp>
        <p:nvSpPr>
          <p:cNvPr id="31" name="Shape 29"/>
          <p:cNvSpPr/>
          <p:nvPr/>
        </p:nvSpPr>
        <p:spPr>
          <a:xfrm>
            <a:off x="1371600" y="4434840"/>
            <a:ext cx="6400800" cy="475488"/>
          </a:xfrm>
          <a:prstGeom prst="roundRect">
            <a:avLst>
              <a:gd name="adj" fmla="val 15385"/>
            </a:avLst>
          </a:prstGeom>
          <a:solidFill>
            <a:srgbClr val="1A1A3E"/>
          </a:solidFill>
          <a:ln w="12700">
            <a:solidFill>
              <a:srgbClr val="8B5CF6"/>
            </a:solidFill>
            <a:prstDash val="solid"/>
          </a:ln>
        </p:spPr>
      </p:sp>
      <p:sp>
        <p:nvSpPr>
          <p:cNvPr id="32" name="Text 30"/>
          <p:cNvSpPr/>
          <p:nvPr/>
        </p:nvSpPr>
        <p:spPr>
          <a:xfrm>
            <a:off x="1371600" y="4434840"/>
            <a:ext cx="6400800" cy="475488"/>
          </a:xfrm>
          <a:prstGeom prst="rect">
            <a:avLst/>
          </a:prstGeom>
          <a:noFill/>
          <a:ln/>
        </p:spPr>
        <p:txBody>
          <a:bodyPr wrap="square" rtlCol="0" anchor="ctr"/>
          <a:lstStyle/>
          <a:p>
            <a:pPr algn="ctr" indent="0" marL="0">
              <a:buNone/>
            </a:pPr>
            <a:r>
              <a:rPr lang="en-US" sz="1100" dirty="0">
                <a:solidFill>
                  <a:srgbClr val="C4B5FD"/>
                </a:solidFill>
                <a:latin typeface="Arial" pitchFamily="34" charset="0"/>
                <a:ea typeface="Arial" pitchFamily="34" charset="-122"/>
                <a:cs typeface="Arial" pitchFamily="34" charset="-120"/>
              </a:rPr>
              <a:t>🤖  ML Model: Random Forest Classifier — 96.71% Accuracy  |  Dataset: 5,000 Kaggle Records  |  Saved as .pkl via Joblib</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4F46E5"/>
          </a:solidFill>
          <a:ln w="12700">
            <a:solidFill>
              <a:srgbClr val="4F46E5"/>
            </a:solidFill>
            <a:prstDash val="solid"/>
          </a:ln>
        </p:spPr>
      </p:sp>
      <p:sp>
        <p:nvSpPr>
          <p:cNvPr id="3" name="Shape 1"/>
          <p:cNvSpPr/>
          <p:nvPr/>
        </p:nvSpPr>
        <p:spPr>
          <a:xfrm>
            <a:off x="0" y="5056632"/>
            <a:ext cx="9144000" cy="91440"/>
          </a:xfrm>
          <a:prstGeom prst="rect">
            <a:avLst/>
          </a:prstGeom>
          <a:solidFill>
            <a:srgbClr val="4F46E5"/>
          </a:solidFill>
          <a:ln w="12700">
            <a:solidFill>
              <a:srgbClr val="4F46E5"/>
            </a:solidFill>
            <a:prstDash val="solid"/>
          </a:ln>
        </p:spPr>
      </p:sp>
      <p:sp>
        <p:nvSpPr>
          <p:cNvPr id="4" name="Text 2"/>
          <p:cNvSpPr/>
          <p:nvPr/>
        </p:nvSpPr>
        <p:spPr>
          <a:xfrm>
            <a:off x="3200400" y="548640"/>
            <a:ext cx="2743200" cy="914400"/>
          </a:xfrm>
          <a:prstGeom prst="rect">
            <a:avLst/>
          </a:prstGeom>
          <a:noFill/>
          <a:ln/>
        </p:spPr>
        <p:txBody>
          <a:bodyPr wrap="square" rtlCol="0" anchor="ctr"/>
          <a:lstStyle/>
          <a:p>
            <a:pPr algn="ctr" indent="0" marL="0">
              <a:buNone/>
            </a:pPr>
            <a:r>
              <a:rPr lang="en-US" sz="5200" dirty="0">
                <a:solidFill>
                  <a:srgbClr val="000000"/>
                </a:solidFill>
              </a:rPr>
              <a:t>💹</a:t>
            </a:r>
            <a:endParaRPr lang="en-US" sz="5200" dirty="0"/>
          </a:p>
        </p:txBody>
      </p:sp>
      <p:sp>
        <p:nvSpPr>
          <p:cNvPr id="5" name="Text 3"/>
          <p:cNvSpPr/>
          <p:nvPr/>
        </p:nvSpPr>
        <p:spPr>
          <a:xfrm>
            <a:off x="914400" y="1463040"/>
            <a:ext cx="7315200" cy="822960"/>
          </a:xfrm>
          <a:prstGeom prst="rect">
            <a:avLst/>
          </a:prstGeom>
          <a:noFill/>
          <a:ln/>
        </p:spPr>
        <p:txBody>
          <a:bodyPr wrap="square" rtlCol="0" anchor="ctr"/>
          <a:lstStyle/>
          <a:p>
            <a:pPr algn="ctr" indent="0" marL="0">
              <a:buNone/>
            </a:pPr>
            <a:r>
              <a:rPr lang="en-US" sz="4800" b="1" dirty="0">
                <a:solidFill>
                  <a:srgbClr val="FFFFFF"/>
                </a:solidFill>
                <a:latin typeface="Arial" pitchFamily="34" charset="0"/>
                <a:ea typeface="Arial" pitchFamily="34" charset="-122"/>
                <a:cs typeface="Arial" pitchFamily="34" charset="-120"/>
              </a:rPr>
              <a:t>Thank You</a:t>
            </a:r>
            <a:endParaRPr lang="en-US" sz="4800" dirty="0"/>
          </a:p>
        </p:txBody>
      </p:sp>
      <p:sp>
        <p:nvSpPr>
          <p:cNvPr id="6" name="Text 4"/>
          <p:cNvSpPr/>
          <p:nvPr/>
        </p:nvSpPr>
        <p:spPr>
          <a:xfrm>
            <a:off x="914400" y="2286000"/>
            <a:ext cx="7315200" cy="411480"/>
          </a:xfrm>
          <a:prstGeom prst="rect">
            <a:avLst/>
          </a:prstGeom>
          <a:noFill/>
          <a:ln/>
        </p:spPr>
        <p:txBody>
          <a:bodyPr wrap="square" rtlCol="0" anchor="ctr"/>
          <a:lstStyle/>
          <a:p>
            <a:pPr algn="ctr" indent="0" marL="0">
              <a:buNone/>
            </a:pPr>
            <a:r>
              <a:rPr lang="en-US" sz="1800" i="1" dirty="0">
                <a:solidFill>
                  <a:srgbClr val="38BDF8"/>
                </a:solidFill>
                <a:latin typeface="Arial" pitchFamily="34" charset="0"/>
                <a:ea typeface="Arial" pitchFamily="34" charset="-122"/>
                <a:cs typeface="Arial" pitchFamily="34" charset="-120"/>
              </a:rPr>
              <a:t>FinRisk — Financial Risk Analysis System</a:t>
            </a:r>
            <a:endParaRPr lang="en-US" sz="1800" dirty="0"/>
          </a:p>
        </p:txBody>
      </p:sp>
      <p:sp>
        <p:nvSpPr>
          <p:cNvPr id="7" name="Shape 5"/>
          <p:cNvSpPr/>
          <p:nvPr/>
        </p:nvSpPr>
        <p:spPr>
          <a:xfrm>
            <a:off x="1828800" y="2788920"/>
            <a:ext cx="5486400" cy="0"/>
          </a:xfrm>
          <a:prstGeom prst="line">
            <a:avLst/>
          </a:prstGeom>
          <a:noFill/>
          <a:ln w="12700">
            <a:solidFill>
              <a:srgbClr val="4F46E5"/>
            </a:solidFill>
            <a:prstDash val="solid"/>
          </a:ln>
        </p:spPr>
      </p:sp>
      <p:sp>
        <p:nvSpPr>
          <p:cNvPr id="8" name="Text 6"/>
          <p:cNvSpPr/>
          <p:nvPr/>
        </p:nvSpPr>
        <p:spPr>
          <a:xfrm>
            <a:off x="1371600" y="2926080"/>
            <a:ext cx="6400800" cy="347472"/>
          </a:xfrm>
          <a:prstGeom prst="rect">
            <a:avLst/>
          </a:prstGeom>
          <a:noFill/>
          <a:ln/>
        </p:spPr>
        <p:txBody>
          <a:bodyPr wrap="square" rtlCol="0" anchor="ctr"/>
          <a:lstStyle/>
          <a:p>
            <a:pPr algn="ctr" indent="0" marL="0">
              <a:buNone/>
            </a:pPr>
            <a:r>
              <a:rPr lang="en-US" sz="1300" dirty="0">
                <a:solidFill>
                  <a:srgbClr val="22C55E"/>
                </a:solidFill>
                <a:latin typeface="Arial" pitchFamily="34" charset="0"/>
                <a:ea typeface="Arial" pitchFamily="34" charset="-122"/>
                <a:cs typeface="Arial" pitchFamily="34" charset="-120"/>
              </a:rPr>
              <a:t>🌐  Live App:  https://finrisk-app.vercel.app</a:t>
            </a:r>
            <a:endParaRPr lang="en-US" sz="1300" dirty="0"/>
          </a:p>
        </p:txBody>
      </p:sp>
      <p:sp>
        <p:nvSpPr>
          <p:cNvPr id="9" name="Text 7"/>
          <p:cNvSpPr/>
          <p:nvPr/>
        </p:nvSpPr>
        <p:spPr>
          <a:xfrm>
            <a:off x="1371600" y="3310128"/>
            <a:ext cx="6400800" cy="347472"/>
          </a:xfrm>
          <a:prstGeom prst="rect">
            <a:avLst/>
          </a:prstGeom>
          <a:noFill/>
          <a:ln/>
        </p:spPr>
        <p:txBody>
          <a:bodyPr wrap="square" rtlCol="0" anchor="ctr"/>
          <a:lstStyle/>
          <a:p>
            <a:pPr algn="ctr" indent="0" marL="0">
              <a:buNone/>
            </a:pPr>
            <a:r>
              <a:rPr lang="en-US" sz="1300" dirty="0">
                <a:solidFill>
                  <a:srgbClr val="38BDF8"/>
                </a:solidFill>
                <a:latin typeface="Arial" pitchFamily="34" charset="0"/>
                <a:ea typeface="Arial" pitchFamily="34" charset="-122"/>
                <a:cs typeface="Arial" pitchFamily="34" charset="-120"/>
              </a:rPr>
              <a:t>🐙  GitHub:  github.com/brahmmareddy-123/finrisk-app</a:t>
            </a:r>
            <a:endParaRPr lang="en-US" sz="1300" dirty="0"/>
          </a:p>
        </p:txBody>
      </p:sp>
      <p:sp>
        <p:nvSpPr>
          <p:cNvPr id="10" name="Text 8"/>
          <p:cNvSpPr/>
          <p:nvPr/>
        </p:nvSpPr>
        <p:spPr>
          <a:xfrm>
            <a:off x="1371600" y="3694176"/>
            <a:ext cx="6400800" cy="347472"/>
          </a:xfrm>
          <a:prstGeom prst="rect">
            <a:avLst/>
          </a:prstGeom>
          <a:noFill/>
          <a:ln/>
        </p:spPr>
        <p:txBody>
          <a:bodyPr wrap="square" rtlCol="0" anchor="ctr"/>
          <a:lstStyle/>
          <a:p>
            <a:pPr algn="ctr" indent="0" marL="0">
              <a:buNone/>
            </a:pPr>
            <a:r>
              <a:rPr lang="en-US" sz="1300" dirty="0">
                <a:solidFill>
                  <a:srgbClr val="4F46E5"/>
                </a:solidFill>
                <a:latin typeface="Arial" pitchFamily="34" charset="0"/>
                <a:ea typeface="Arial" pitchFamily="34" charset="-122"/>
                <a:cs typeface="Arial" pitchFamily="34" charset="-120"/>
              </a:rPr>
              <a:t>⚡  API:  https://finrisk-backend-e3xs.onrender.com</a:t>
            </a:r>
            <a:endParaRPr lang="en-US" sz="1300" dirty="0"/>
          </a:p>
        </p:txBody>
      </p:sp>
      <p:sp>
        <p:nvSpPr>
          <p:cNvPr id="11" name="Text 9"/>
          <p:cNvSpPr/>
          <p:nvPr/>
        </p:nvSpPr>
        <p:spPr>
          <a:xfrm>
            <a:off x="914400" y="4434840"/>
            <a:ext cx="7315200" cy="320040"/>
          </a:xfrm>
          <a:prstGeom prst="rect">
            <a:avLst/>
          </a:prstGeom>
          <a:noFill/>
          <a:ln/>
        </p:spPr>
        <p:txBody>
          <a:bodyPr wrap="square" rtlCol="0" anchor="ctr"/>
          <a:lstStyle/>
          <a:p>
            <a:pPr algn="ctr" indent="0" marL="0">
              <a:buNone/>
            </a:pPr>
            <a:r>
              <a:rPr lang="en-US" sz="1300" i="1" dirty="0">
                <a:solidFill>
                  <a:srgbClr val="94A3B8"/>
                </a:solidFill>
                <a:latin typeface="Arial" pitchFamily="34" charset="0"/>
                <a:ea typeface="Arial" pitchFamily="34" charset="-122"/>
                <a:cs typeface="Arial" pitchFamily="34" charset="-120"/>
              </a:rPr>
              <a:t>Developed by: Brahma Reddy  |  July 2026</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2026-07-15T00:26:55Z</dcterms:created>
  <dcterms:modified xsi:type="dcterms:W3CDTF">2026-07-15T00:26:55Z</dcterms:modified>
</cp:coreProperties>
</file>